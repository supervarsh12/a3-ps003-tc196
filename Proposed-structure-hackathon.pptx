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7B442B-C32E-4739-AA68-DA20A1183E19}" v="16" dt="2026-10-14T12:39:15.50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60" d="100"/>
          <a:sy n="160" d="100"/>
        </p:scale>
        <p:origin x="922" y="10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churi Abhishek" userId="0e924ccb8aa8838a" providerId="LiveId" clId="{D80EADF8-998A-49DB-9507-9AC9780D23BE}"/>
    <pc:docChg chg="custSel addSld delSld modSld">
      <pc:chgData name="Anchuri Abhishek" userId="0e924ccb8aa8838a" providerId="LiveId" clId="{D80EADF8-998A-49DB-9507-9AC9780D23BE}" dt="2026-10-14T12:39:29.229" v="552" actId="20577"/>
      <pc:docMkLst>
        <pc:docMk/>
      </pc:docMkLst>
      <pc:sldChg chg="modSp mod">
        <pc:chgData name="Anchuri Abhishek" userId="0e924ccb8aa8838a" providerId="LiveId" clId="{D80EADF8-998A-49DB-9507-9AC9780D23BE}" dt="2026-10-14T12:27:36.501" v="471" actId="20577"/>
        <pc:sldMkLst>
          <pc:docMk/>
          <pc:sldMk cId="0" sldId="256"/>
        </pc:sldMkLst>
        <pc:spChg chg="mod">
          <ac:chgData name="Anchuri Abhishek" userId="0e924ccb8aa8838a" providerId="LiveId" clId="{D80EADF8-998A-49DB-9507-9AC9780D23BE}" dt="2026-10-13T18:11:13.986" v="149" actId="20577"/>
          <ac:spMkLst>
            <pc:docMk/>
            <pc:sldMk cId="0" sldId="256"/>
            <ac:spMk id="3" creationId="{00000000-0000-0000-0000-000000000000}"/>
          </ac:spMkLst>
        </pc:spChg>
        <pc:spChg chg="mod">
          <ac:chgData name="Anchuri Abhishek" userId="0e924ccb8aa8838a" providerId="LiveId" clId="{D80EADF8-998A-49DB-9507-9AC9780D23BE}" dt="2026-10-14T12:27:36.501" v="471" actId="20577"/>
          <ac:spMkLst>
            <pc:docMk/>
            <pc:sldMk cId="0" sldId="256"/>
            <ac:spMk id="4" creationId="{00000000-0000-0000-0000-000000000000}"/>
          </ac:spMkLst>
        </pc:spChg>
      </pc:sldChg>
      <pc:sldChg chg="modSp mod">
        <pc:chgData name="Anchuri Abhishek" userId="0e924ccb8aa8838a" providerId="LiveId" clId="{D80EADF8-998A-49DB-9507-9AC9780D23BE}" dt="2026-10-14T12:27:51.980" v="491" actId="20577"/>
        <pc:sldMkLst>
          <pc:docMk/>
          <pc:sldMk cId="0" sldId="257"/>
        </pc:sldMkLst>
        <pc:spChg chg="mod">
          <ac:chgData name="Anchuri Abhishek" userId="0e924ccb8aa8838a" providerId="LiveId" clId="{D80EADF8-998A-49DB-9507-9AC9780D23BE}" dt="2026-10-13T18:51:04.797" v="322" actId="255"/>
          <ac:spMkLst>
            <pc:docMk/>
            <pc:sldMk cId="0" sldId="257"/>
            <ac:spMk id="5" creationId="{00000000-0000-0000-0000-000000000000}"/>
          </ac:spMkLst>
        </pc:spChg>
        <pc:spChg chg="mod">
          <ac:chgData name="Anchuri Abhishek" userId="0e924ccb8aa8838a" providerId="LiveId" clId="{D80EADF8-998A-49DB-9507-9AC9780D23BE}" dt="2026-10-14T12:27:51.980" v="491" actId="20577"/>
          <ac:spMkLst>
            <pc:docMk/>
            <pc:sldMk cId="0" sldId="257"/>
            <ac:spMk id="6" creationId="{00000000-0000-0000-0000-000000000000}"/>
          </ac:spMkLst>
        </pc:spChg>
      </pc:sldChg>
      <pc:sldChg chg="addSp delSp modSp mod">
        <pc:chgData name="Anchuri Abhishek" userId="0e924ccb8aa8838a" providerId="LiveId" clId="{D80EADF8-998A-49DB-9507-9AC9780D23BE}" dt="2026-10-14T12:28:10.271" v="518" actId="20577"/>
        <pc:sldMkLst>
          <pc:docMk/>
          <pc:sldMk cId="0" sldId="258"/>
        </pc:sldMkLst>
        <pc:spChg chg="del mod">
          <ac:chgData name="Anchuri Abhishek" userId="0e924ccb8aa8838a" providerId="LiveId" clId="{D80EADF8-998A-49DB-9507-9AC9780D23BE}" dt="2026-10-13T18:32:23.076" v="264"/>
          <ac:spMkLst>
            <pc:docMk/>
            <pc:sldMk cId="0" sldId="258"/>
            <ac:spMk id="5" creationId="{00000000-0000-0000-0000-000000000000}"/>
          </ac:spMkLst>
        </pc:spChg>
        <pc:spChg chg="mod">
          <ac:chgData name="Anchuri Abhishek" userId="0e924ccb8aa8838a" providerId="LiveId" clId="{D80EADF8-998A-49DB-9507-9AC9780D23BE}" dt="2026-10-14T12:28:10.271" v="518" actId="20577"/>
          <ac:spMkLst>
            <pc:docMk/>
            <pc:sldMk cId="0" sldId="258"/>
            <ac:spMk id="6" creationId="{00000000-0000-0000-0000-000000000000}"/>
          </ac:spMkLst>
        </pc:spChg>
        <pc:spChg chg="add mod">
          <ac:chgData name="Anchuri Abhishek" userId="0e924ccb8aa8838a" providerId="LiveId" clId="{D80EADF8-998A-49DB-9507-9AC9780D23BE}" dt="2026-10-13T18:50:54.847" v="321" actId="255"/>
          <ac:spMkLst>
            <pc:docMk/>
            <pc:sldMk cId="0" sldId="258"/>
            <ac:spMk id="8" creationId="{8E4AA319-1D8A-341A-4C40-FC4AC0F431EB}"/>
          </ac:spMkLst>
        </pc:spChg>
      </pc:sldChg>
      <pc:sldChg chg="modSp mod">
        <pc:chgData name="Anchuri Abhishek" userId="0e924ccb8aa8838a" providerId="LiveId" clId="{D80EADF8-998A-49DB-9507-9AC9780D23BE}" dt="2026-10-14T12:28:34.886" v="519"/>
        <pc:sldMkLst>
          <pc:docMk/>
          <pc:sldMk cId="0" sldId="259"/>
        </pc:sldMkLst>
        <pc:spChg chg="mod">
          <ac:chgData name="Anchuri Abhishek" userId="0e924ccb8aa8838a" providerId="LiveId" clId="{D80EADF8-998A-49DB-9507-9AC9780D23BE}" dt="2026-10-13T18:40:45.450" v="301" actId="14100"/>
          <ac:spMkLst>
            <pc:docMk/>
            <pc:sldMk cId="0" sldId="259"/>
            <ac:spMk id="4" creationId="{00000000-0000-0000-0000-000000000000}"/>
          </ac:spMkLst>
        </pc:spChg>
        <pc:spChg chg="mod">
          <ac:chgData name="Anchuri Abhishek" userId="0e924ccb8aa8838a" providerId="LiveId" clId="{D80EADF8-998A-49DB-9507-9AC9780D23BE}" dt="2026-10-14T04:37:34.298" v="325" actId="313"/>
          <ac:spMkLst>
            <pc:docMk/>
            <pc:sldMk cId="0" sldId="259"/>
            <ac:spMk id="5" creationId="{00000000-0000-0000-0000-000000000000}"/>
          </ac:spMkLst>
        </pc:spChg>
        <pc:spChg chg="mod">
          <ac:chgData name="Anchuri Abhishek" userId="0e924ccb8aa8838a" providerId="LiveId" clId="{D80EADF8-998A-49DB-9507-9AC9780D23BE}" dt="2026-10-14T12:28:34.886" v="519"/>
          <ac:spMkLst>
            <pc:docMk/>
            <pc:sldMk cId="0" sldId="259"/>
            <ac:spMk id="6" creationId="{00000000-0000-0000-0000-000000000000}"/>
          </ac:spMkLst>
        </pc:spChg>
      </pc:sldChg>
      <pc:sldChg chg="modSp mod">
        <pc:chgData name="Anchuri Abhishek" userId="0e924ccb8aa8838a" providerId="LiveId" clId="{D80EADF8-998A-49DB-9507-9AC9780D23BE}" dt="2026-10-14T12:28:48.530" v="520"/>
        <pc:sldMkLst>
          <pc:docMk/>
          <pc:sldMk cId="0" sldId="260"/>
        </pc:sldMkLst>
        <pc:spChg chg="mod">
          <ac:chgData name="Anchuri Abhishek" userId="0e924ccb8aa8838a" providerId="LiveId" clId="{D80EADF8-998A-49DB-9507-9AC9780D23BE}" dt="2026-10-13T18:47:33.410" v="315" actId="14100"/>
          <ac:spMkLst>
            <pc:docMk/>
            <pc:sldMk cId="0" sldId="260"/>
            <ac:spMk id="5" creationId="{00000000-0000-0000-0000-000000000000}"/>
          </ac:spMkLst>
        </pc:spChg>
        <pc:spChg chg="mod">
          <ac:chgData name="Anchuri Abhishek" userId="0e924ccb8aa8838a" providerId="LiveId" clId="{D80EADF8-998A-49DB-9507-9AC9780D23BE}" dt="2026-10-14T12:28:48.530" v="520"/>
          <ac:spMkLst>
            <pc:docMk/>
            <pc:sldMk cId="0" sldId="260"/>
            <ac:spMk id="6" creationId="{00000000-0000-0000-0000-000000000000}"/>
          </ac:spMkLst>
        </pc:spChg>
      </pc:sldChg>
      <pc:sldChg chg="addSp delSp modSp mod">
        <pc:chgData name="Anchuri Abhishek" userId="0e924ccb8aa8838a" providerId="LiveId" clId="{D80EADF8-998A-49DB-9507-9AC9780D23BE}" dt="2026-10-14T12:28:54.800" v="521"/>
        <pc:sldMkLst>
          <pc:docMk/>
          <pc:sldMk cId="0" sldId="261"/>
        </pc:sldMkLst>
        <pc:spChg chg="del mod">
          <ac:chgData name="Anchuri Abhishek" userId="0e924ccb8aa8838a" providerId="LiveId" clId="{D80EADF8-998A-49DB-9507-9AC9780D23BE}" dt="2026-10-14T04:39:39.943" v="328"/>
          <ac:spMkLst>
            <pc:docMk/>
            <pc:sldMk cId="0" sldId="261"/>
            <ac:spMk id="5" creationId="{00000000-0000-0000-0000-000000000000}"/>
          </ac:spMkLst>
        </pc:spChg>
        <pc:spChg chg="mod">
          <ac:chgData name="Anchuri Abhishek" userId="0e924ccb8aa8838a" providerId="LiveId" clId="{D80EADF8-998A-49DB-9507-9AC9780D23BE}" dt="2026-10-14T12:28:54.800" v="521"/>
          <ac:spMkLst>
            <pc:docMk/>
            <pc:sldMk cId="0" sldId="261"/>
            <ac:spMk id="6" creationId="{00000000-0000-0000-0000-000000000000}"/>
          </ac:spMkLst>
        </pc:spChg>
        <pc:graphicFrameChg chg="add mod modGraphic">
          <ac:chgData name="Anchuri Abhishek" userId="0e924ccb8aa8838a" providerId="LiveId" clId="{D80EADF8-998A-49DB-9507-9AC9780D23BE}" dt="2026-10-14T04:40:33.079" v="337" actId="14100"/>
          <ac:graphicFrameMkLst>
            <pc:docMk/>
            <pc:sldMk cId="0" sldId="261"/>
            <ac:graphicFrameMk id="8" creationId="{E72CEAE5-85AD-3E2F-EC2D-1800D287A7BB}"/>
          </ac:graphicFrameMkLst>
        </pc:graphicFrameChg>
      </pc:sldChg>
      <pc:sldChg chg="addSp delSp modSp mod">
        <pc:chgData name="Anchuri Abhishek" userId="0e924ccb8aa8838a" providerId="LiveId" clId="{D80EADF8-998A-49DB-9507-9AC9780D23BE}" dt="2026-10-14T12:29:10.686" v="523" actId="20577"/>
        <pc:sldMkLst>
          <pc:docMk/>
          <pc:sldMk cId="0" sldId="262"/>
        </pc:sldMkLst>
        <pc:spChg chg="mod">
          <ac:chgData name="Anchuri Abhishek" userId="0e924ccb8aa8838a" providerId="LiveId" clId="{D80EADF8-998A-49DB-9507-9AC9780D23BE}" dt="2026-10-14T12:22:31.044" v="405" actId="20577"/>
          <ac:spMkLst>
            <pc:docMk/>
            <pc:sldMk cId="0" sldId="262"/>
            <ac:spMk id="3" creationId="{00000000-0000-0000-0000-000000000000}"/>
          </ac:spMkLst>
        </pc:spChg>
        <pc:spChg chg="mod">
          <ac:chgData name="Anchuri Abhishek" userId="0e924ccb8aa8838a" providerId="LiveId" clId="{D80EADF8-998A-49DB-9507-9AC9780D23BE}" dt="2026-10-14T12:29:10.686" v="523" actId="20577"/>
          <ac:spMkLst>
            <pc:docMk/>
            <pc:sldMk cId="0" sldId="262"/>
            <ac:spMk id="10" creationId="{00000000-0000-0000-0000-000000000000}"/>
          </ac:spMkLst>
        </pc:spChg>
        <pc:grpChg chg="del">
          <ac:chgData name="Anchuri Abhishek" userId="0e924ccb8aa8838a" providerId="LiveId" clId="{D80EADF8-998A-49DB-9507-9AC9780D23BE}" dt="2026-10-14T05:22:06.815" v="338" actId="21"/>
          <ac:grpSpMkLst>
            <pc:docMk/>
            <pc:sldMk cId="0" sldId="262"/>
            <ac:grpSpMk id="4" creationId="{00000000-0000-0000-0000-000000000000}"/>
          </ac:grpSpMkLst>
        </pc:grpChg>
        <pc:picChg chg="add del mod">
          <ac:chgData name="Anchuri Abhishek" userId="0e924ccb8aa8838a" providerId="LiveId" clId="{D80EADF8-998A-49DB-9507-9AC9780D23BE}" dt="2026-10-14T12:25:30.853" v="406" actId="21"/>
          <ac:picMkLst>
            <pc:docMk/>
            <pc:sldMk cId="0" sldId="262"/>
            <ac:picMk id="13" creationId="{CB2E68E6-3F27-AD89-6357-3BF098420A58}"/>
          </ac:picMkLst>
        </pc:picChg>
        <pc:picChg chg="add del">
          <ac:chgData name="Anchuri Abhishek" userId="0e924ccb8aa8838a" providerId="LiveId" clId="{D80EADF8-998A-49DB-9507-9AC9780D23BE}" dt="2026-10-14T12:25:39.418" v="408" actId="21"/>
          <ac:picMkLst>
            <pc:docMk/>
            <pc:sldMk cId="0" sldId="262"/>
            <ac:picMk id="15" creationId="{808D89AB-6946-3E92-F6B8-4876EE751804}"/>
          </ac:picMkLst>
        </pc:picChg>
        <pc:picChg chg="add mod">
          <ac:chgData name="Anchuri Abhishek" userId="0e924ccb8aa8838a" providerId="LiveId" clId="{D80EADF8-998A-49DB-9507-9AC9780D23BE}" dt="2026-10-14T12:26:47.469" v="422" actId="14100"/>
          <ac:picMkLst>
            <pc:docMk/>
            <pc:sldMk cId="0" sldId="262"/>
            <ac:picMk id="17" creationId="{B6870C52-C1EB-9996-47A1-C68EF7E0055F}"/>
          </ac:picMkLst>
        </pc:picChg>
      </pc:sldChg>
      <pc:sldChg chg="addSp modSp mod">
        <pc:chgData name="Anchuri Abhishek" userId="0e924ccb8aa8838a" providerId="LiveId" clId="{D80EADF8-998A-49DB-9507-9AC9780D23BE}" dt="2026-10-14T12:34:52.450" v="537" actId="1076"/>
        <pc:sldMkLst>
          <pc:docMk/>
          <pc:sldMk cId="0" sldId="263"/>
        </pc:sldMkLst>
        <pc:spChg chg="mod">
          <ac:chgData name="Anchuri Abhishek" userId="0e924ccb8aa8838a" providerId="LiveId" clId="{D80EADF8-998A-49DB-9507-9AC9780D23BE}" dt="2026-10-14T12:34:38.935" v="533" actId="20577"/>
          <ac:spMkLst>
            <pc:docMk/>
            <pc:sldMk cId="0" sldId="263"/>
            <ac:spMk id="3" creationId="{00000000-0000-0000-0000-000000000000}"/>
          </ac:spMkLst>
        </pc:spChg>
        <pc:spChg chg="mod">
          <ac:chgData name="Anchuri Abhishek" userId="0e924ccb8aa8838a" providerId="LiveId" clId="{D80EADF8-998A-49DB-9507-9AC9780D23BE}" dt="2026-10-14T12:29:31.388" v="528"/>
          <ac:spMkLst>
            <pc:docMk/>
            <pc:sldMk cId="0" sldId="263"/>
            <ac:spMk id="10" creationId="{00000000-0000-0000-0000-000000000000}"/>
          </ac:spMkLst>
        </pc:spChg>
        <pc:picChg chg="add mod">
          <ac:chgData name="Anchuri Abhishek" userId="0e924ccb8aa8838a" providerId="LiveId" clId="{D80EADF8-998A-49DB-9507-9AC9780D23BE}" dt="2026-10-14T12:34:52.450" v="537" actId="1076"/>
          <ac:picMkLst>
            <pc:docMk/>
            <pc:sldMk cId="0" sldId="263"/>
            <ac:picMk id="13" creationId="{F4183C1B-63A9-4A55-BCEF-65C0152DFE58}"/>
          </ac:picMkLst>
        </pc:picChg>
      </pc:sldChg>
      <pc:sldChg chg="addSp delSp modSp mod">
        <pc:chgData name="Anchuri Abhishek" userId="0e924ccb8aa8838a" providerId="LiveId" clId="{D80EADF8-998A-49DB-9507-9AC9780D23BE}" dt="2026-10-14T12:36:49.498" v="547"/>
        <pc:sldMkLst>
          <pc:docMk/>
          <pc:sldMk cId="0" sldId="264"/>
        </pc:sldMkLst>
        <pc:spChg chg="del mod">
          <ac:chgData name="Anchuri Abhishek" userId="0e924ccb8aa8838a" providerId="LiveId" clId="{D80EADF8-998A-49DB-9507-9AC9780D23BE}" dt="2026-10-14T12:36:49.498" v="547"/>
          <ac:spMkLst>
            <pc:docMk/>
            <pc:sldMk cId="0" sldId="264"/>
            <ac:spMk id="5" creationId="{00000000-0000-0000-0000-000000000000}"/>
          </ac:spMkLst>
        </pc:spChg>
        <pc:spChg chg="mod">
          <ac:chgData name="Anchuri Abhishek" userId="0e924ccb8aa8838a" providerId="LiveId" clId="{D80EADF8-998A-49DB-9507-9AC9780D23BE}" dt="2026-10-14T12:29:39.955" v="529"/>
          <ac:spMkLst>
            <pc:docMk/>
            <pc:sldMk cId="0" sldId="264"/>
            <ac:spMk id="6" creationId="{00000000-0000-0000-0000-000000000000}"/>
          </ac:spMkLst>
        </pc:spChg>
        <pc:picChg chg="add mod">
          <ac:chgData name="Anchuri Abhishek" userId="0e924ccb8aa8838a" providerId="LiveId" clId="{D80EADF8-998A-49DB-9507-9AC9780D23BE}" dt="2026-10-14T12:36:43.783" v="545" actId="14100"/>
          <ac:picMkLst>
            <pc:docMk/>
            <pc:sldMk cId="0" sldId="264"/>
            <ac:picMk id="9" creationId="{9DD098EB-2620-99C1-8B61-CF372981ADB0}"/>
          </ac:picMkLst>
        </pc:picChg>
      </pc:sldChg>
      <pc:sldChg chg="modSp mod">
        <pc:chgData name="Anchuri Abhishek" userId="0e924ccb8aa8838a" providerId="LiveId" clId="{D80EADF8-998A-49DB-9507-9AC9780D23BE}" dt="2026-10-14T12:39:29.229" v="552" actId="20577"/>
        <pc:sldMkLst>
          <pc:docMk/>
          <pc:sldMk cId="0" sldId="265"/>
        </pc:sldMkLst>
        <pc:spChg chg="mod">
          <ac:chgData name="Anchuri Abhishek" userId="0e924ccb8aa8838a" providerId="LiveId" clId="{D80EADF8-998A-49DB-9507-9AC9780D23BE}" dt="2026-10-14T12:39:29.229" v="552" actId="20577"/>
          <ac:spMkLst>
            <pc:docMk/>
            <pc:sldMk cId="0" sldId="265"/>
            <ac:spMk id="4" creationId="{00000000-0000-0000-0000-000000000000}"/>
          </ac:spMkLst>
        </pc:spChg>
        <pc:spChg chg="mod">
          <ac:chgData name="Anchuri Abhishek" userId="0e924ccb8aa8838a" providerId="LiveId" clId="{D80EADF8-998A-49DB-9507-9AC9780D23BE}" dt="2026-10-14T12:29:54.069" v="530"/>
          <ac:spMkLst>
            <pc:docMk/>
            <pc:sldMk cId="0" sldId="265"/>
            <ac:spMk id="5" creationId="{00000000-0000-0000-0000-000000000000}"/>
          </ac:spMkLst>
        </pc:spChg>
      </pc:sldChg>
      <pc:sldChg chg="new del">
        <pc:chgData name="Anchuri Abhishek" userId="0e924ccb8aa8838a" providerId="LiveId" clId="{D80EADF8-998A-49DB-9507-9AC9780D23BE}" dt="2026-10-14T04:37:20.703" v="324" actId="2696"/>
        <pc:sldMkLst>
          <pc:docMk/>
          <pc:sldMk cId="2877814960"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498725" cy="16192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265488" y="0"/>
            <a:ext cx="2498725" cy="161925"/>
          </a:xfrm>
          <a:prstGeom prst="rect">
            <a:avLst/>
          </a:prstGeom>
        </p:spPr>
        <p:txBody>
          <a:bodyPr vert="horz" lIns="91440" tIns="45720" rIns="91440" bIns="45720" rtlCol="0"/>
          <a:lstStyle>
            <a:lvl1pPr algn="r">
              <a:defRPr sz="1200"/>
            </a:lvl1pPr>
          </a:lstStyle>
          <a:p>
            <a:fld id="{63C320B3-5D9A-4C6B-AA32-F337F6D0878C}" type="datetimeFigureOut">
              <a:rPr lang="en-IN" smtClean="0"/>
              <a:t>14-10-2026</a:t>
            </a:fld>
            <a:endParaRPr lang="en-IN"/>
          </a:p>
        </p:txBody>
      </p:sp>
      <p:sp>
        <p:nvSpPr>
          <p:cNvPr id="4" name="Slide Image Placeholder 3"/>
          <p:cNvSpPr>
            <a:spLocks noGrp="1" noRot="1" noChangeAspect="1"/>
          </p:cNvSpPr>
          <p:nvPr>
            <p:ph type="sldImg" idx="2"/>
          </p:nvPr>
        </p:nvSpPr>
        <p:spPr>
          <a:xfrm>
            <a:off x="1911350" y="406400"/>
            <a:ext cx="1943100" cy="10937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576263" y="1562100"/>
            <a:ext cx="4613275" cy="12779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3082925"/>
            <a:ext cx="2498725" cy="16192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265488" y="3082925"/>
            <a:ext cx="2498725" cy="161925"/>
          </a:xfrm>
          <a:prstGeom prst="rect">
            <a:avLst/>
          </a:prstGeom>
        </p:spPr>
        <p:txBody>
          <a:bodyPr vert="horz" lIns="91440" tIns="45720" rIns="91440" bIns="45720" rtlCol="0" anchor="b"/>
          <a:lstStyle>
            <a:lvl1pPr algn="r">
              <a:defRPr sz="1200"/>
            </a:lvl1pPr>
          </a:lstStyle>
          <a:p>
            <a:fld id="{1A06FE7D-E46C-4FB2-BDBD-77BD6C86AC7E}" type="slidenum">
              <a:rPr lang="en-IN" smtClean="0"/>
              <a:t>‹#›</a:t>
            </a:fld>
            <a:endParaRPr lang="en-IN"/>
          </a:p>
        </p:txBody>
      </p:sp>
    </p:spTree>
    <p:extLst>
      <p:ext uri="{BB962C8B-B14F-4D97-AF65-F5344CB8AC3E}">
        <p14:creationId xmlns:p14="http://schemas.microsoft.com/office/powerpoint/2010/main" val="2664620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A06FE7D-E46C-4FB2-BDBD-77BD6C86AC7E}" type="slidenum">
              <a:rPr lang="en-IN" smtClean="0"/>
              <a:t>1</a:t>
            </a:fld>
            <a:endParaRPr lang="en-IN"/>
          </a:p>
        </p:txBody>
      </p:sp>
    </p:spTree>
    <p:extLst>
      <p:ext uri="{BB962C8B-B14F-4D97-AF65-F5344CB8AC3E}">
        <p14:creationId xmlns:p14="http://schemas.microsoft.com/office/powerpoint/2010/main" val="1999715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2435" y="1005903"/>
            <a:ext cx="4900930" cy="681418"/>
          </a:xfrm>
          <a:prstGeom prst="rect">
            <a:avLst/>
          </a:prstGeom>
        </p:spPr>
        <p:txBody>
          <a:bodyPr wrap="square" lIns="0" tIns="0" rIns="0" bIns="0">
            <a:spAutoFit/>
          </a:bodyPr>
          <a:lstStyle>
            <a:lvl1pPr>
              <a:defRPr sz="1400" b="1" i="0">
                <a:solidFill>
                  <a:schemeClr val="hlink"/>
                </a:solidFill>
                <a:latin typeface="Century Gothic"/>
                <a:cs typeface="Century Gothic"/>
              </a:defRPr>
            </a:lvl1pPr>
          </a:lstStyle>
          <a:p>
            <a:endParaRPr/>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11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6" name="Holder 6"/>
          <p:cNvSpPr>
            <a:spLocks noGrp="1"/>
          </p:cNvSpPr>
          <p:nvPr>
            <p:ph type="sldNum" sz="quarter" idx="7"/>
          </p:nvPr>
        </p:nvSpPr>
        <p:spPr/>
        <p:txBody>
          <a:bodyPr lIns="0" tIns="0" rIns="0" bIns="0"/>
          <a:lstStyle>
            <a:lvl1pPr>
              <a:defRPr sz="600" b="0" i="0">
                <a:solidFill>
                  <a:schemeClr val="hlink"/>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chemeClr val="hlink"/>
                </a:solidFill>
                <a:latin typeface="Century Gothic"/>
                <a:cs typeface="Century Gothic"/>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6" name="Holder 6"/>
          <p:cNvSpPr>
            <a:spLocks noGrp="1"/>
          </p:cNvSpPr>
          <p:nvPr>
            <p:ph type="sldNum" sz="quarter" idx="7"/>
          </p:nvPr>
        </p:nvSpPr>
        <p:spPr/>
        <p:txBody>
          <a:bodyPr lIns="0" tIns="0" rIns="0" bIns="0"/>
          <a:lstStyle>
            <a:lvl1pPr>
              <a:defRPr sz="600" b="0" i="0">
                <a:solidFill>
                  <a:schemeClr val="hlink"/>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chemeClr val="hlink"/>
                </a:solidFill>
                <a:latin typeface="Century Gothic"/>
                <a:cs typeface="Century Gothic"/>
              </a:defRPr>
            </a:lvl1pPr>
          </a:lstStyle>
          <a:p>
            <a:endParaRPr/>
          </a:p>
        </p:txBody>
      </p:sp>
      <p:sp>
        <p:nvSpPr>
          <p:cNvPr id="3" name="Holder 3"/>
          <p:cNvSpPr>
            <a:spLocks noGrp="1"/>
          </p:cNvSpPr>
          <p:nvPr>
            <p:ph sz="half" idx="2"/>
          </p:nvPr>
        </p:nvSpPr>
        <p:spPr>
          <a:xfrm>
            <a:off x="288290" y="746315"/>
            <a:ext cx="2508123" cy="21416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969387" y="746315"/>
            <a:ext cx="2508123" cy="21416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7" name="Holder 7"/>
          <p:cNvSpPr>
            <a:spLocks noGrp="1"/>
          </p:cNvSpPr>
          <p:nvPr>
            <p:ph type="sldNum" sz="quarter" idx="7"/>
          </p:nvPr>
        </p:nvSpPr>
        <p:spPr/>
        <p:txBody>
          <a:bodyPr lIns="0" tIns="0" rIns="0" bIns="0"/>
          <a:lstStyle>
            <a:lvl1pPr>
              <a:defRPr sz="600" b="0" i="0">
                <a:solidFill>
                  <a:schemeClr val="hlink"/>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chemeClr val="hlink"/>
                </a:solidFill>
                <a:latin typeface="Century Gothic"/>
                <a:cs typeface="Century Gothic"/>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5" name="Holder 5"/>
          <p:cNvSpPr>
            <a:spLocks noGrp="1"/>
          </p:cNvSpPr>
          <p:nvPr>
            <p:ph type="sldNum" sz="quarter" idx="7"/>
          </p:nvPr>
        </p:nvSpPr>
        <p:spPr/>
        <p:txBody>
          <a:bodyPr lIns="0" tIns="0" rIns="0" bIns="0"/>
          <a:lstStyle>
            <a:lvl1pPr>
              <a:defRPr sz="600" b="0" i="0">
                <a:solidFill>
                  <a:schemeClr val="hlink"/>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4" name="Holder 4"/>
          <p:cNvSpPr>
            <a:spLocks noGrp="1"/>
          </p:cNvSpPr>
          <p:nvPr>
            <p:ph type="sldNum" sz="quarter" idx="7"/>
          </p:nvPr>
        </p:nvSpPr>
        <p:spPr/>
        <p:txBody>
          <a:bodyPr lIns="0" tIns="0" rIns="0" bIns="0"/>
          <a:lstStyle>
            <a:lvl1pPr>
              <a:defRPr sz="600" b="0" i="0">
                <a:solidFill>
                  <a:schemeClr val="hlink"/>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39293" y="198244"/>
            <a:ext cx="1115060" cy="244475"/>
          </a:xfrm>
          <a:prstGeom prst="rect">
            <a:avLst/>
          </a:prstGeom>
        </p:spPr>
        <p:txBody>
          <a:bodyPr wrap="square" lIns="0" tIns="0" rIns="0" bIns="0">
            <a:spAutoFit/>
          </a:bodyPr>
          <a:lstStyle>
            <a:lvl1pPr>
              <a:defRPr sz="1400" b="1" i="0">
                <a:solidFill>
                  <a:schemeClr val="hlink"/>
                </a:solidFill>
                <a:latin typeface="Century Gothic"/>
                <a:cs typeface="Century Gothic"/>
              </a:defRPr>
            </a:lvl1pPr>
          </a:lstStyle>
          <a:p>
            <a:endParaRPr/>
          </a:p>
        </p:txBody>
      </p:sp>
      <p:sp>
        <p:nvSpPr>
          <p:cNvPr id="3" name="Holder 3"/>
          <p:cNvSpPr>
            <a:spLocks noGrp="1"/>
          </p:cNvSpPr>
          <p:nvPr>
            <p:ph type="body" idx="1"/>
          </p:nvPr>
        </p:nvSpPr>
        <p:spPr>
          <a:xfrm>
            <a:off x="239293" y="596822"/>
            <a:ext cx="5273675" cy="765175"/>
          </a:xfrm>
          <a:prstGeom prst="rect">
            <a:avLst/>
          </a:prstGeom>
        </p:spPr>
        <p:txBody>
          <a:bodyPr wrap="square" lIns="0" tIns="0" rIns="0" bIns="0">
            <a:spAutoFit/>
          </a:bodyPr>
          <a:lstStyle>
            <a:lvl1pPr>
              <a:defRPr sz="11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a:xfrm>
            <a:off x="1960372" y="3017710"/>
            <a:ext cx="1845056" cy="1622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88290" y="3017710"/>
            <a:ext cx="1326134" cy="1622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6" name="Holder 6"/>
          <p:cNvSpPr>
            <a:spLocks noGrp="1"/>
          </p:cNvSpPr>
          <p:nvPr>
            <p:ph type="sldNum" sz="quarter" idx="7"/>
          </p:nvPr>
        </p:nvSpPr>
        <p:spPr>
          <a:xfrm>
            <a:off x="5234978" y="3092784"/>
            <a:ext cx="400050" cy="120650"/>
          </a:xfrm>
          <a:prstGeom prst="rect">
            <a:avLst/>
          </a:prstGeom>
        </p:spPr>
        <p:txBody>
          <a:bodyPr wrap="square" lIns="0" tIns="0" rIns="0" bIns="0">
            <a:spAutoFit/>
          </a:bodyPr>
          <a:lstStyle>
            <a:lvl1pPr>
              <a:defRPr sz="600" b="0" i="0">
                <a:solidFill>
                  <a:schemeClr val="hlink"/>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mailto:personal-id@some.mail.com" TargetMode="External"/></Relationships>
</file>

<file path=ppt/slides/_rels/slide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51993" y="252004"/>
            <a:ext cx="508223" cy="503988"/>
          </a:xfrm>
          <a:prstGeom prst="rect">
            <a:avLst/>
          </a:prstGeom>
        </p:spPr>
      </p:pic>
      <p:sp>
        <p:nvSpPr>
          <p:cNvPr id="3" name="object 3" descr="$PPTXTitle"/>
          <p:cNvSpPr txBox="1">
            <a:spLocks noGrp="1"/>
          </p:cNvSpPr>
          <p:nvPr>
            <p:ph type="title"/>
          </p:nvPr>
        </p:nvSpPr>
        <p:spPr>
          <a:xfrm>
            <a:off x="239293" y="1200733"/>
            <a:ext cx="4429125" cy="836768"/>
          </a:xfrm>
          <a:prstGeom prst="rect">
            <a:avLst/>
          </a:prstGeom>
        </p:spPr>
        <p:txBody>
          <a:bodyPr vert="horz" wrap="square" lIns="0" tIns="99695" rIns="0" bIns="0" rtlCol="0">
            <a:spAutoFit/>
          </a:bodyPr>
          <a:lstStyle/>
          <a:p>
            <a:pPr marL="12700">
              <a:lnSpc>
                <a:spcPct val="100000"/>
              </a:lnSpc>
              <a:spcBef>
                <a:spcPts val="785"/>
              </a:spcBef>
            </a:pPr>
            <a:r>
              <a:rPr sz="2050" spc="-45" dirty="0"/>
              <a:t>A3-</a:t>
            </a:r>
            <a:r>
              <a:rPr sz="2050" spc="-80" dirty="0"/>
              <a:t>PS00</a:t>
            </a:r>
            <a:r>
              <a:rPr lang="en-IN" sz="2050" spc="-80" dirty="0"/>
              <a:t>3</a:t>
            </a:r>
            <a:r>
              <a:rPr sz="2050" spc="-80" dirty="0"/>
              <a:t>-</a:t>
            </a:r>
            <a:r>
              <a:rPr sz="2050" spc="-10" dirty="0"/>
              <a:t>TC</a:t>
            </a:r>
            <a:r>
              <a:rPr lang="en-IN" sz="2050" spc="-10" dirty="0"/>
              <a:t>196</a:t>
            </a:r>
            <a:endParaRPr sz="2050" dirty="0"/>
          </a:p>
          <a:p>
            <a:pPr marL="12700">
              <a:lnSpc>
                <a:spcPct val="100000"/>
              </a:lnSpc>
              <a:spcBef>
                <a:spcPts val="385"/>
              </a:spcBef>
            </a:pPr>
            <a:r>
              <a:rPr lang="en-IN" sz="1200" b="0" spc="-100" dirty="0">
                <a:solidFill>
                  <a:srgbClr val="000000"/>
                </a:solidFill>
              </a:rPr>
              <a:t>Federated Traffic-Flow Predication with  Communication-Cost Evaluation</a:t>
            </a:r>
            <a:endParaRPr sz="1200" dirty="0">
              <a:latin typeface="Century Gothic"/>
              <a:cs typeface="Century Gothic"/>
            </a:endParaRPr>
          </a:p>
        </p:txBody>
      </p:sp>
      <p:sp>
        <p:nvSpPr>
          <p:cNvPr id="4" name="object 4"/>
          <p:cNvSpPr txBox="1"/>
          <p:nvPr/>
        </p:nvSpPr>
        <p:spPr>
          <a:xfrm>
            <a:off x="239292" y="2132387"/>
            <a:ext cx="1881607" cy="871391"/>
          </a:xfrm>
          <a:prstGeom prst="rect">
            <a:avLst/>
          </a:prstGeom>
        </p:spPr>
        <p:txBody>
          <a:bodyPr vert="horz" wrap="square" lIns="0" tIns="32384" rIns="0" bIns="0" rtlCol="0">
            <a:spAutoFit/>
          </a:bodyPr>
          <a:lstStyle/>
          <a:p>
            <a:pPr marL="12700">
              <a:lnSpc>
                <a:spcPct val="100000"/>
              </a:lnSpc>
              <a:spcBef>
                <a:spcPts val="254"/>
              </a:spcBef>
            </a:pPr>
            <a:r>
              <a:rPr lang="en-IN" sz="1000" b="1" spc="-100" dirty="0">
                <a:latin typeface="Century Gothic"/>
                <a:cs typeface="Century Gothic"/>
              </a:rPr>
              <a:t>Banoth Varshith</a:t>
            </a:r>
            <a:endParaRPr sz="1000" dirty="0">
              <a:latin typeface="Century Gothic"/>
              <a:cs typeface="Century Gothic"/>
            </a:endParaRPr>
          </a:p>
          <a:p>
            <a:pPr marL="12700">
              <a:lnSpc>
                <a:spcPct val="100000"/>
              </a:lnSpc>
              <a:spcBef>
                <a:spcPts val="155"/>
              </a:spcBef>
            </a:pPr>
            <a:r>
              <a:rPr lang="en-IN" sz="1000" b="1" spc="-65" dirty="0">
                <a:latin typeface="Century Gothic"/>
                <a:cs typeface="Century Gothic"/>
                <a:hlinkClick r:id="rId4">
                  <a:extLst>
                    <a:ext uri="{A12FA001-AC4F-418D-AE19-62706E023703}">
                      <ahyp:hlinkClr xmlns:ahyp="http://schemas.microsoft.com/office/drawing/2018/hyperlinkcolor" val="tx"/>
                    </a:ext>
                  </a:extLst>
                </a:hlinkClick>
              </a:rPr>
              <a:t>banothvarshith12@gmail.</a:t>
            </a:r>
            <a:r>
              <a:rPr sz="1000" b="1" spc="-65" dirty="0">
                <a:latin typeface="Century Gothic"/>
                <a:cs typeface="Century Gothic"/>
                <a:hlinkClick r:id="rId4">
                  <a:extLst>
                    <a:ext uri="{A12FA001-AC4F-418D-AE19-62706E023703}">
                      <ahyp:hlinkClr xmlns:ahyp="http://schemas.microsoft.com/office/drawing/2018/hyperlinkcolor" val="tx"/>
                    </a:ext>
                  </a:extLst>
                </a:hlinkClick>
              </a:rPr>
              <a:t>com</a:t>
            </a:r>
            <a:endParaRPr sz="1000" dirty="0">
              <a:latin typeface="Century Gothic"/>
              <a:cs typeface="Century Gothic"/>
            </a:endParaRPr>
          </a:p>
          <a:p>
            <a:pPr marL="12700">
              <a:lnSpc>
                <a:spcPct val="100000"/>
              </a:lnSpc>
              <a:spcBef>
                <a:spcPts val="994"/>
              </a:spcBef>
            </a:pPr>
            <a:r>
              <a:rPr sz="800" dirty="0">
                <a:latin typeface="Century Gothic"/>
                <a:cs typeface="Century Gothic"/>
              </a:rPr>
              <a:t>AIORI</a:t>
            </a:r>
            <a:r>
              <a:rPr sz="800" spc="50" dirty="0">
                <a:latin typeface="Century Gothic"/>
                <a:cs typeface="Century Gothic"/>
              </a:rPr>
              <a:t> </a:t>
            </a:r>
            <a:r>
              <a:rPr sz="800" spc="-10" dirty="0">
                <a:latin typeface="Century Gothic"/>
                <a:cs typeface="Century Gothic"/>
              </a:rPr>
              <a:t>Hackathon</a:t>
            </a:r>
            <a:r>
              <a:rPr sz="800" spc="55" dirty="0">
                <a:latin typeface="Century Gothic"/>
                <a:cs typeface="Century Gothic"/>
              </a:rPr>
              <a:t> </a:t>
            </a:r>
            <a:r>
              <a:rPr sz="800" spc="-50" dirty="0">
                <a:latin typeface="Century Gothic"/>
                <a:cs typeface="Century Gothic"/>
              </a:rPr>
              <a:t>3</a:t>
            </a:r>
            <a:endParaRPr sz="800" dirty="0">
              <a:latin typeface="Century Gothic"/>
              <a:cs typeface="Century Gothic"/>
            </a:endParaRPr>
          </a:p>
          <a:p>
            <a:pPr marL="12700">
              <a:lnSpc>
                <a:spcPct val="100000"/>
              </a:lnSpc>
              <a:spcBef>
                <a:spcPts val="935"/>
              </a:spcBef>
            </a:pPr>
            <a:endParaRPr sz="900" dirty="0">
              <a:latin typeface="Century Gothic"/>
              <a:cs typeface="Century Gothic"/>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333375"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2" action="ppaction://hlinksldjump"/>
              </a:rPr>
              <a:t>Abstract</a:t>
            </a:r>
            <a:endParaRPr sz="600">
              <a:latin typeface="Century Gothic"/>
              <a:cs typeface="Century Gothic"/>
            </a:endParaRPr>
          </a:p>
        </p:txBody>
      </p:sp>
      <p:sp>
        <p:nvSpPr>
          <p:cNvPr id="4" name="object 4"/>
          <p:cNvSpPr txBox="1"/>
          <p:nvPr/>
        </p:nvSpPr>
        <p:spPr>
          <a:xfrm>
            <a:off x="239293" y="198244"/>
            <a:ext cx="1610360" cy="244475"/>
          </a:xfrm>
          <a:prstGeom prst="rect">
            <a:avLst/>
          </a:prstGeom>
        </p:spPr>
        <p:txBody>
          <a:bodyPr vert="horz" wrap="square" lIns="0" tIns="17145" rIns="0" bIns="0" rtlCol="0">
            <a:spAutoFit/>
          </a:bodyPr>
          <a:lstStyle/>
          <a:p>
            <a:pPr marL="12700">
              <a:lnSpc>
                <a:spcPct val="100000"/>
              </a:lnSpc>
              <a:spcBef>
                <a:spcPts val="135"/>
              </a:spcBef>
            </a:pPr>
            <a:r>
              <a:rPr sz="1400" b="1" spc="-80" dirty="0">
                <a:solidFill>
                  <a:srgbClr val="0000DC"/>
                </a:solidFill>
                <a:latin typeface="Century Gothic"/>
                <a:cs typeface="Century Gothic"/>
              </a:rPr>
              <a:t>Problem</a:t>
            </a:r>
            <a:r>
              <a:rPr sz="1400" b="1" spc="30" dirty="0">
                <a:solidFill>
                  <a:srgbClr val="0000DC"/>
                </a:solidFill>
                <a:latin typeface="Century Gothic"/>
                <a:cs typeface="Century Gothic"/>
              </a:rPr>
              <a:t> </a:t>
            </a:r>
            <a:r>
              <a:rPr sz="1400" b="1" spc="-55" dirty="0">
                <a:solidFill>
                  <a:srgbClr val="0000DC"/>
                </a:solidFill>
                <a:latin typeface="Century Gothic"/>
                <a:cs typeface="Century Gothic"/>
              </a:rPr>
              <a:t>Description</a:t>
            </a:r>
            <a:endParaRPr sz="1400" dirty="0">
              <a:latin typeface="Century Gothic"/>
              <a:cs typeface="Century Gothic"/>
            </a:endParaRPr>
          </a:p>
        </p:txBody>
      </p:sp>
      <p:sp>
        <p:nvSpPr>
          <p:cNvPr id="5" name="object 5"/>
          <p:cNvSpPr txBox="1"/>
          <p:nvPr/>
        </p:nvSpPr>
        <p:spPr>
          <a:xfrm>
            <a:off x="215900" y="784226"/>
            <a:ext cx="5229123" cy="1704313"/>
          </a:xfrm>
          <a:prstGeom prst="rect">
            <a:avLst/>
          </a:prstGeom>
        </p:spPr>
        <p:txBody>
          <a:bodyPr vert="horz" wrap="square" lIns="0" tIns="11430" rIns="0" bIns="0" rtlCol="0">
            <a:spAutoFit/>
          </a:bodyPr>
          <a:lstStyle/>
          <a:p>
            <a:pPr marL="12700">
              <a:lnSpc>
                <a:spcPct val="100000"/>
              </a:lnSpc>
              <a:spcBef>
                <a:spcPts val="90"/>
              </a:spcBef>
            </a:pPr>
            <a:r>
              <a:rPr lang="en-IN" sz="1000" dirty="0">
                <a:latin typeface="Times New Roman" panose="02020603050405020304" pitchFamily="18" charset="0"/>
                <a:cs typeface="Times New Roman" panose="02020603050405020304" pitchFamily="18" charset="0"/>
              </a:rPr>
              <a:t>Traffic-flow prediction plays a role in smart transportation systems.. Traditional models collect raw traffic data from many intersections and send it to one server. This causes problems with privacy. Uses a lot of communication resources. In traffic-flow prediction each intersection or client trains a model using its own data. Only the model updates are sent to a server for combining. However traffic data at intersections is often not the same. This means each place has traffic patterns. This can make predictions less accurate. Make the process take longer to get good results. Also sending model parameters back and forth uses a lot of network resources. The challenge is to create a traffic-flow prediction model that gives good results even when data is spread out and different. It also needs to check how much communication is used. The solution should compare federated methods. It should look at accuracy measures, like MAE and RMSE. It should also check how many bytes are sent each round and how quickly the model gets better.</a:t>
            </a:r>
            <a:endParaRPr sz="10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239293" y="3050083"/>
            <a:ext cx="1608455" cy="142027"/>
          </a:xfrm>
          <a:prstGeom prst="rect">
            <a:avLst/>
          </a:prstGeom>
        </p:spPr>
        <p:txBody>
          <a:bodyPr vert="horz" wrap="square" lIns="0" tIns="0" rIns="0" bIns="0" rtlCol="0">
            <a:spAutoFit/>
          </a:bodyPr>
          <a:lstStyle/>
          <a:p>
            <a:pPr marL="12700">
              <a:lnSpc>
                <a:spcPts val="1315"/>
              </a:lnSpc>
            </a:pPr>
            <a:r>
              <a:rPr sz="600" spc="10" dirty="0">
                <a:solidFill>
                  <a:srgbClr val="0000DC"/>
                </a:solidFill>
                <a:latin typeface="Century Gothic"/>
                <a:cs typeface="Century Gothic"/>
              </a:rPr>
              <a:t> </a:t>
            </a:r>
            <a:r>
              <a:rPr sz="600" b="1" dirty="0">
                <a:solidFill>
                  <a:srgbClr val="0000DC"/>
                </a:solidFill>
                <a:latin typeface="Century Gothic"/>
                <a:cs typeface="Century Gothic"/>
              </a:rPr>
              <a:t>A3-</a:t>
            </a:r>
            <a:r>
              <a:rPr sz="600" b="1" spc="-10" dirty="0">
                <a:solidFill>
                  <a:srgbClr val="0000DC"/>
                </a:solidFill>
                <a:latin typeface="Century Gothic"/>
                <a:cs typeface="Century Gothic"/>
              </a:rPr>
              <a:t>PS0</a:t>
            </a:r>
            <a:r>
              <a:rPr lang="en-IN" sz="600" b="1" spc="-10" dirty="0">
                <a:solidFill>
                  <a:srgbClr val="0000DC"/>
                </a:solidFill>
                <a:latin typeface="Century Gothic"/>
                <a:cs typeface="Century Gothic"/>
              </a:rPr>
              <a:t>03</a:t>
            </a:r>
            <a:r>
              <a:rPr sz="600" b="1" spc="-10" dirty="0">
                <a:solidFill>
                  <a:srgbClr val="0000DC"/>
                </a:solidFill>
                <a:latin typeface="Century Gothic"/>
                <a:cs typeface="Century Gothic"/>
              </a:rPr>
              <a:t>-</a:t>
            </a:r>
            <a:r>
              <a:rPr sz="600" b="1" dirty="0">
                <a:solidFill>
                  <a:srgbClr val="0000DC"/>
                </a:solidFill>
                <a:latin typeface="Century Gothic"/>
                <a:cs typeface="Century Gothic"/>
              </a:rPr>
              <a:t>TC</a:t>
            </a:r>
            <a:r>
              <a:rPr lang="en-IN" sz="600" b="1" dirty="0">
                <a:solidFill>
                  <a:srgbClr val="0000DC"/>
                </a:solidFill>
                <a:latin typeface="Century Gothic"/>
                <a:cs typeface="Century Gothic"/>
              </a:rPr>
              <a:t>196</a:t>
            </a:r>
            <a:endParaRPr sz="600" dirty="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2</a:t>
            </a:fld>
            <a:r>
              <a:rPr spc="5" dirty="0"/>
              <a:t> </a:t>
            </a:r>
            <a:r>
              <a:rPr dirty="0"/>
              <a:t>/</a:t>
            </a:r>
            <a:r>
              <a:rPr spc="10" dirty="0"/>
              <a:t> </a:t>
            </a:r>
            <a:r>
              <a:rPr spc="-25" dirty="0"/>
              <a:t>11</a:t>
            </a: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467359"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Background</a:t>
            </a:r>
            <a:endParaRPr sz="600">
              <a:latin typeface="Century Gothic"/>
              <a:cs typeface="Century Gothic"/>
            </a:endParaRPr>
          </a:p>
        </p:txBody>
      </p:sp>
      <p:sp>
        <p:nvSpPr>
          <p:cNvPr id="4" name="object 4"/>
          <p:cNvSpPr txBox="1"/>
          <p:nvPr/>
        </p:nvSpPr>
        <p:spPr>
          <a:xfrm>
            <a:off x="239293" y="198244"/>
            <a:ext cx="944880" cy="244475"/>
          </a:xfrm>
          <a:prstGeom prst="rect">
            <a:avLst/>
          </a:prstGeom>
        </p:spPr>
        <p:txBody>
          <a:bodyPr vert="horz" wrap="square" lIns="0" tIns="17145" rIns="0" bIns="0" rtlCol="0">
            <a:spAutoFit/>
          </a:bodyPr>
          <a:lstStyle/>
          <a:p>
            <a:pPr marL="12700">
              <a:lnSpc>
                <a:spcPct val="100000"/>
              </a:lnSpc>
              <a:spcBef>
                <a:spcPts val="135"/>
              </a:spcBef>
            </a:pPr>
            <a:r>
              <a:rPr sz="1400" b="1" spc="-110" dirty="0">
                <a:solidFill>
                  <a:srgbClr val="0000DC"/>
                </a:solidFill>
                <a:latin typeface="Century Gothic"/>
                <a:cs typeface="Century Gothic"/>
              </a:rPr>
              <a:t>Background</a:t>
            </a:r>
            <a:endParaRPr sz="1400" dirty="0">
              <a:latin typeface="Century Gothic"/>
              <a:cs typeface="Century Gothic"/>
            </a:endParaRPr>
          </a:p>
        </p:txBody>
      </p:sp>
      <p:sp>
        <p:nvSpPr>
          <p:cNvPr id="6" name="object 6"/>
          <p:cNvSpPr txBox="1"/>
          <p:nvPr/>
        </p:nvSpPr>
        <p:spPr>
          <a:xfrm>
            <a:off x="239293" y="3050083"/>
            <a:ext cx="1608455" cy="166712"/>
          </a:xfrm>
          <a:prstGeom prst="rect">
            <a:avLst/>
          </a:prstGeom>
        </p:spPr>
        <p:txBody>
          <a:bodyPr vert="horz" wrap="square" lIns="0" tIns="0" rIns="0" bIns="0" rtlCol="0">
            <a:spAutoFit/>
          </a:bodyPr>
          <a:lstStyle/>
          <a:p>
            <a:pPr marL="12700">
              <a:lnSpc>
                <a:spcPts val="1315"/>
              </a:lnSpc>
            </a:pPr>
            <a:r>
              <a:rPr sz="2100" i="1" spc="-202" baseline="-7936" dirty="0">
                <a:solidFill>
                  <a:srgbClr val="0000DC"/>
                </a:solidFill>
                <a:latin typeface="Arial Narrow"/>
                <a:cs typeface="Arial Narrow"/>
              </a:rPr>
              <a:t> </a:t>
            </a:r>
            <a:r>
              <a:rPr sz="600" b="1" dirty="0">
                <a:solidFill>
                  <a:srgbClr val="0000DC"/>
                </a:solidFill>
                <a:latin typeface="Century Gothic"/>
                <a:cs typeface="Century Gothic"/>
              </a:rPr>
              <a:t>A3-</a:t>
            </a:r>
            <a:r>
              <a:rPr sz="600" b="1" spc="-10" dirty="0">
                <a:solidFill>
                  <a:srgbClr val="0000DC"/>
                </a:solidFill>
                <a:latin typeface="Century Gothic"/>
                <a:cs typeface="Century Gothic"/>
              </a:rPr>
              <a:t>PS00</a:t>
            </a:r>
            <a:r>
              <a:rPr lang="en-IN" sz="600" b="1" spc="-10" dirty="0">
                <a:solidFill>
                  <a:srgbClr val="0000DC"/>
                </a:solidFill>
                <a:latin typeface="Century Gothic"/>
                <a:cs typeface="Century Gothic"/>
              </a:rPr>
              <a:t>3</a:t>
            </a:r>
            <a:r>
              <a:rPr sz="600" b="1" spc="-10" dirty="0">
                <a:solidFill>
                  <a:srgbClr val="0000DC"/>
                </a:solidFill>
                <a:latin typeface="Century Gothic"/>
                <a:cs typeface="Century Gothic"/>
              </a:rPr>
              <a:t>-</a:t>
            </a:r>
            <a:r>
              <a:rPr sz="600" b="1" dirty="0">
                <a:solidFill>
                  <a:srgbClr val="0000DC"/>
                </a:solidFill>
                <a:latin typeface="Century Gothic"/>
                <a:cs typeface="Century Gothic"/>
              </a:rPr>
              <a:t>TC</a:t>
            </a:r>
            <a:r>
              <a:rPr lang="en-IN" sz="600" b="1" dirty="0">
                <a:solidFill>
                  <a:srgbClr val="0000DC"/>
                </a:solidFill>
                <a:latin typeface="Century Gothic"/>
                <a:cs typeface="Century Gothic"/>
              </a:rPr>
              <a:t>196</a:t>
            </a:r>
            <a:endParaRPr sz="600" dirty="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3</a:t>
            </a:fld>
            <a:r>
              <a:rPr spc="5" dirty="0"/>
              <a:t> </a:t>
            </a:r>
            <a:r>
              <a:rPr dirty="0"/>
              <a:t>/</a:t>
            </a:r>
            <a:r>
              <a:rPr spc="10" dirty="0"/>
              <a:t> </a:t>
            </a:r>
            <a:r>
              <a:rPr spc="-25" dirty="0"/>
              <a:t>11</a:t>
            </a:r>
          </a:p>
        </p:txBody>
      </p:sp>
      <p:sp>
        <p:nvSpPr>
          <p:cNvPr id="8" name="TextBox 7">
            <a:extLst>
              <a:ext uri="{FF2B5EF4-FFF2-40B4-BE49-F238E27FC236}">
                <a16:creationId xmlns:a16="http://schemas.microsoft.com/office/drawing/2014/main" id="{8E4AA319-1D8A-341A-4C40-FC4AC0F431EB}"/>
              </a:ext>
            </a:extLst>
          </p:cNvPr>
          <p:cNvSpPr txBox="1"/>
          <p:nvPr/>
        </p:nvSpPr>
        <p:spPr>
          <a:xfrm>
            <a:off x="239293" y="631825"/>
            <a:ext cx="5310607" cy="2400657"/>
          </a:xfrm>
          <a:prstGeom prst="rect">
            <a:avLst/>
          </a:prstGeom>
          <a:noFill/>
        </p:spPr>
        <p:txBody>
          <a:bodyPr wrap="square" rtlCol="0">
            <a:spAutoFit/>
          </a:bodyPr>
          <a:lstStyle/>
          <a:p>
            <a:pPr marL="171450" indent="-171450">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Traffic-flow prediction plays a role in Intelligent Transportation Systems. It uses data from sensors and road intersections to forecast how traffic will move. This helps reduce traffic jams improve route choices and make traffic signals work better. In methods data from many places is sent to a central server for training. This approach needs a lot of storage and communication. Can risk privacy because raw data is shared. Federated Learning solves this by letting each location train a model on its data. The central server then combines updated models without seeing the original data. This is done using a method called Federated Averaging or </a:t>
            </a:r>
            <a:r>
              <a:rPr lang="en-US" sz="1000" dirty="0" err="1">
                <a:latin typeface="Times New Roman" panose="02020603050405020304" pitchFamily="18" charset="0"/>
                <a:cs typeface="Times New Roman" panose="02020603050405020304" pitchFamily="18" charset="0"/>
              </a:rPr>
              <a:t>FedAvg</a:t>
            </a:r>
            <a:r>
              <a:rPr lang="en-US" sz="1000" dirty="0">
                <a:latin typeface="Times New Roman" panose="02020603050405020304" pitchFamily="18" charset="0"/>
                <a:cs typeface="Times New Roman" panose="02020603050405020304" pitchFamily="18" charset="0"/>
              </a:rPr>
              <a:t>.</a:t>
            </a:r>
          </a:p>
          <a:p>
            <a:pPr marL="171450" indent="-171450">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Traffic data is not the same everywhere. Different intersections have traffic volumes, road sizes and peak times. This leads to data that's not independent and identically distributed or non-IID. Such data can hurt the accuracy of predictions. Make it harder for the model to learn. Also sending updates often increases communication costs. So this project looks at how Federated Learning works for traffic-flow prediction. It measures accuracy using Mean Absolute Error and Root Mean Squared Error. It also tracks how much communication is needed. The goal is to find a balance, between accurate predictions and low communication overhead.</a:t>
            </a:r>
            <a:endParaRPr lang="en-IN" sz="1000" dirty="0">
              <a:latin typeface="Times New Roman" panose="02020603050405020304" pitchFamily="18" charset="0"/>
              <a:cs typeface="Times New Roman" panose="02020603050405020304" pitchFamily="18" charset="0"/>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927100"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Literature</a:t>
            </a:r>
            <a:r>
              <a:rPr sz="600" b="1" spc="30" dirty="0">
                <a:solidFill>
                  <a:srgbClr val="0000DC"/>
                </a:solidFill>
                <a:latin typeface="Century Gothic"/>
                <a:cs typeface="Century Gothic"/>
                <a:hlinkClick r:id="rId3" action="ppaction://hlinksldjump"/>
              </a:rPr>
              <a:t> </a:t>
            </a:r>
            <a:r>
              <a:rPr sz="600" b="1" spc="114" dirty="0">
                <a:solidFill>
                  <a:srgbClr val="0000DC"/>
                </a:solidFill>
                <a:latin typeface="Century Gothic"/>
                <a:cs typeface="Century Gothic"/>
                <a:hlinkClick r:id="rId3" action="ppaction://hlinksldjump"/>
              </a:rPr>
              <a:t>&amp;</a:t>
            </a:r>
            <a:r>
              <a:rPr sz="600" b="1" spc="30"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RFC</a:t>
            </a:r>
            <a:r>
              <a:rPr sz="600" b="1" spc="3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Review</a:t>
            </a:r>
            <a:endParaRPr sz="600">
              <a:latin typeface="Century Gothic"/>
              <a:cs typeface="Century Gothic"/>
            </a:endParaRPr>
          </a:p>
        </p:txBody>
      </p:sp>
      <p:sp>
        <p:nvSpPr>
          <p:cNvPr id="4" name="object 4"/>
          <p:cNvSpPr txBox="1"/>
          <p:nvPr/>
        </p:nvSpPr>
        <p:spPr>
          <a:xfrm>
            <a:off x="130773" y="98426"/>
            <a:ext cx="2045270" cy="232756"/>
          </a:xfrm>
          <a:prstGeom prst="rect">
            <a:avLst/>
          </a:prstGeom>
        </p:spPr>
        <p:txBody>
          <a:bodyPr vert="horz" wrap="square" lIns="0" tIns="17145" rIns="0" bIns="0" rtlCol="0">
            <a:spAutoFit/>
          </a:bodyPr>
          <a:lstStyle/>
          <a:p>
            <a:pPr marL="12700">
              <a:lnSpc>
                <a:spcPct val="100000"/>
              </a:lnSpc>
              <a:spcBef>
                <a:spcPts val="135"/>
              </a:spcBef>
            </a:pPr>
            <a:r>
              <a:rPr sz="1400" b="1" spc="-20" dirty="0">
                <a:solidFill>
                  <a:srgbClr val="0000DC"/>
                </a:solidFill>
                <a:latin typeface="Century Gothic"/>
                <a:cs typeface="Century Gothic"/>
              </a:rPr>
              <a:t>Literature</a:t>
            </a:r>
            <a:r>
              <a:rPr sz="1400" b="1" spc="-30" dirty="0">
                <a:solidFill>
                  <a:srgbClr val="0000DC"/>
                </a:solidFill>
                <a:latin typeface="Century Gothic"/>
                <a:cs typeface="Century Gothic"/>
              </a:rPr>
              <a:t> </a:t>
            </a:r>
            <a:r>
              <a:rPr sz="1400" b="1" spc="204" dirty="0">
                <a:solidFill>
                  <a:srgbClr val="0000DC"/>
                </a:solidFill>
                <a:latin typeface="Century Gothic"/>
                <a:cs typeface="Century Gothic"/>
              </a:rPr>
              <a:t>&amp;</a:t>
            </a:r>
            <a:r>
              <a:rPr sz="1400" b="1" spc="-30" dirty="0">
                <a:solidFill>
                  <a:srgbClr val="0000DC"/>
                </a:solidFill>
                <a:latin typeface="Century Gothic"/>
                <a:cs typeface="Century Gothic"/>
              </a:rPr>
              <a:t> </a:t>
            </a:r>
            <a:r>
              <a:rPr sz="1400" b="1" spc="-70" dirty="0">
                <a:solidFill>
                  <a:srgbClr val="0000DC"/>
                </a:solidFill>
                <a:latin typeface="Century Gothic"/>
                <a:cs typeface="Century Gothic"/>
              </a:rPr>
              <a:t>RFC</a:t>
            </a:r>
            <a:r>
              <a:rPr sz="1400" b="1" spc="-25" dirty="0">
                <a:solidFill>
                  <a:srgbClr val="0000DC"/>
                </a:solidFill>
                <a:latin typeface="Century Gothic"/>
                <a:cs typeface="Century Gothic"/>
              </a:rPr>
              <a:t> </a:t>
            </a:r>
            <a:r>
              <a:rPr sz="1400" b="1" spc="-80" dirty="0">
                <a:solidFill>
                  <a:srgbClr val="0000DC"/>
                </a:solidFill>
                <a:latin typeface="Century Gothic"/>
                <a:cs typeface="Century Gothic"/>
              </a:rPr>
              <a:t>Review</a:t>
            </a:r>
            <a:endParaRPr sz="1400" dirty="0">
              <a:latin typeface="Century Gothic"/>
              <a:cs typeface="Century Gothic"/>
            </a:endParaRPr>
          </a:p>
        </p:txBody>
      </p:sp>
      <p:sp>
        <p:nvSpPr>
          <p:cNvPr id="5" name="object 5"/>
          <p:cNvSpPr txBox="1"/>
          <p:nvPr/>
        </p:nvSpPr>
        <p:spPr>
          <a:xfrm>
            <a:off x="239293" y="403225"/>
            <a:ext cx="5158208" cy="2623154"/>
          </a:xfrm>
          <a:prstGeom prst="rect">
            <a:avLst/>
          </a:prstGeom>
        </p:spPr>
        <p:txBody>
          <a:bodyPr vert="horz" wrap="square" lIns="0" tIns="6985" rIns="0" bIns="0" rtlCol="0">
            <a:spAutoFit/>
          </a:bodyPr>
          <a:lstStyle/>
          <a:p>
            <a:r>
              <a:rPr lang="en-IN" sz="1000" dirty="0">
                <a:latin typeface="Times New Roman" panose="02020603050405020304" pitchFamily="18" charset="0"/>
                <a:cs typeface="Times New Roman" panose="02020603050405020304" pitchFamily="18" charset="0"/>
              </a:rPr>
              <a:t>McMahan and colleagues introduced Federated Averaging (</a:t>
            </a:r>
            <a:r>
              <a:rPr lang="en-IN" sz="1000" dirty="0" err="1">
                <a:latin typeface="Times New Roman" panose="02020603050405020304" pitchFamily="18" charset="0"/>
                <a:cs typeface="Times New Roman" panose="02020603050405020304" pitchFamily="18" charset="0"/>
              </a:rPr>
              <a:t>FedAvg</a:t>
            </a:r>
            <a:r>
              <a:rPr lang="en-IN" sz="1000" dirty="0">
                <a:latin typeface="Times New Roman" panose="02020603050405020304" pitchFamily="18" charset="0"/>
                <a:cs typeface="Times New Roman" panose="02020603050405020304" pitchFamily="18" charset="0"/>
              </a:rPr>
              <a:t>) in 2017. This method allows multiple clients to train a shared model without sharing data. It is designed to be communication-efficient. Al-</a:t>
            </a:r>
            <a:r>
              <a:rPr lang="en-IN" sz="1000" dirty="0" err="1">
                <a:latin typeface="Times New Roman" panose="02020603050405020304" pitchFamily="18" charset="0"/>
                <a:cs typeface="Times New Roman" panose="02020603050405020304" pitchFamily="18" charset="0"/>
              </a:rPr>
              <a:t>Huthaifi</a:t>
            </a:r>
            <a:r>
              <a:rPr lang="en-IN" sz="1000" dirty="0">
                <a:latin typeface="Times New Roman" panose="02020603050405020304" pitchFamily="18" charset="0"/>
                <a:cs typeface="Times New Roman" panose="02020603050405020304" pitchFamily="18" charset="0"/>
              </a:rPr>
              <a:t> and colleagues proposed Fed AGAT in 2024. This approach combines learning with graph attention networks. The goal is to improve traffic-flow prediction. It does this by taking into account the relationships between road locations. Other studies look into model pruning and personalized aggregation. These techniques aim to reduce communication costs. They also aim to improve prediction performance. REFOL was introduced in 2025. It focuses on resource- federated online learning for traffic forecasting. It handles changing traffic conditions. These studies show that there are challenges. Non-IID data is one of them. Communication delays are another. Changing traffic patterns make things harder too. The NIST Privacy Framework gives guidance. It helps. Manage privacy risks. These risks come from data processing.</a:t>
            </a:r>
            <a:br>
              <a:rPr lang="en-IN" sz="1000" dirty="0">
                <a:latin typeface="Times New Roman" panose="02020603050405020304" pitchFamily="18" charset="0"/>
                <a:cs typeface="Times New Roman" panose="02020603050405020304" pitchFamily="18" charset="0"/>
              </a:rPr>
            </a:br>
            <a:endParaRPr lang="en-IN" sz="1000" dirty="0">
              <a:latin typeface="Times New Roman" panose="02020603050405020304" pitchFamily="18" charset="0"/>
              <a:cs typeface="Times New Roman" panose="02020603050405020304" pitchFamily="18" charset="0"/>
            </a:endParaRPr>
          </a:p>
          <a:p>
            <a:r>
              <a:rPr lang="en-IN" sz="1000" dirty="0">
                <a:latin typeface="Times New Roman" panose="02020603050405020304" pitchFamily="18" charset="0"/>
                <a:cs typeface="Times New Roman" panose="02020603050405020304" pitchFamily="18" charset="0"/>
              </a:rPr>
              <a:t>Research Gap: Existing methods struggle to balance prediction accuracy, communication and training efficiency. This project evaluates </a:t>
            </a:r>
            <a:r>
              <a:rPr lang="en-IN" sz="1000" dirty="0" err="1">
                <a:latin typeface="Times New Roman" panose="02020603050405020304" pitchFamily="18" charset="0"/>
                <a:cs typeface="Times New Roman" panose="02020603050405020304" pitchFamily="18" charset="0"/>
              </a:rPr>
              <a:t>FedAvg</a:t>
            </a:r>
            <a:r>
              <a:rPr lang="en-IN" sz="1000" dirty="0">
                <a:latin typeface="Times New Roman" panose="02020603050405020304" pitchFamily="18" charset="0"/>
                <a:cs typeface="Times New Roman" panose="02020603050405020304" pitchFamily="18" charset="0"/>
              </a:rPr>
              <a:t>. It uses Mean Absolute Error (MAE) and Root Mean Squared Error (RMSE) to measure prediction performance. It also tracks data transmitted and communication rounds. The goal is to find a balance. This balance is, between prediction performance and communication efficiency.</a:t>
            </a:r>
          </a:p>
        </p:txBody>
      </p:sp>
      <p:sp>
        <p:nvSpPr>
          <p:cNvPr id="6" name="object 6"/>
          <p:cNvSpPr txBox="1"/>
          <p:nvPr/>
        </p:nvSpPr>
        <p:spPr>
          <a:xfrm>
            <a:off x="239293" y="3050083"/>
            <a:ext cx="1608455" cy="166712"/>
          </a:xfrm>
          <a:prstGeom prst="rect">
            <a:avLst/>
          </a:prstGeom>
        </p:spPr>
        <p:txBody>
          <a:bodyPr vert="horz" wrap="square" lIns="0" tIns="0" rIns="0" bIns="0" rtlCol="0">
            <a:spAutoFit/>
          </a:bodyPr>
          <a:lstStyle/>
          <a:p>
            <a:pPr marL="12700">
              <a:lnSpc>
                <a:spcPts val="1315"/>
              </a:lnSpc>
            </a:pPr>
            <a:r>
              <a:rPr lang="en-IN" sz="2100" i="1" spc="-202" baseline="-7936" dirty="0">
                <a:solidFill>
                  <a:srgbClr val="0000DC"/>
                </a:solidFill>
                <a:latin typeface="Arial Narrow"/>
                <a:cs typeface="Arial Narrow"/>
              </a:rPr>
              <a:t> </a:t>
            </a:r>
            <a:r>
              <a:rPr lang="en-IN" sz="600" b="1" dirty="0">
                <a:solidFill>
                  <a:srgbClr val="0000DC"/>
                </a:solidFill>
                <a:latin typeface="Century Gothic"/>
                <a:cs typeface="Century Gothic"/>
              </a:rPr>
              <a:t>A3-</a:t>
            </a:r>
            <a:r>
              <a:rPr lang="en-IN" sz="600" b="1" spc="-10" dirty="0">
                <a:solidFill>
                  <a:srgbClr val="0000DC"/>
                </a:solidFill>
                <a:latin typeface="Century Gothic"/>
                <a:cs typeface="Century Gothic"/>
              </a:rPr>
              <a:t>PS003-</a:t>
            </a:r>
            <a:r>
              <a:rPr lang="en-IN" sz="600" b="1" dirty="0">
                <a:solidFill>
                  <a:srgbClr val="0000DC"/>
                </a:solidFill>
                <a:latin typeface="Century Gothic"/>
                <a:cs typeface="Century Gothic"/>
              </a:rPr>
              <a:t>TC196</a:t>
            </a:r>
            <a:endParaRPr lang="en-IN" sz="600" dirty="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4</a:t>
            </a:fld>
            <a:r>
              <a:rPr spc="5" dirty="0"/>
              <a:t> </a:t>
            </a:r>
            <a:r>
              <a:rPr dirty="0"/>
              <a:t>/</a:t>
            </a:r>
            <a:r>
              <a:rPr spc="10" dirty="0"/>
              <a:t> </a:t>
            </a:r>
            <a:r>
              <a:rPr spc="-25" dirty="0"/>
              <a:t>11</a:t>
            </a: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706755"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Proposed</a:t>
            </a:r>
            <a:r>
              <a:rPr sz="600" b="1" spc="3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Solution</a:t>
            </a:r>
            <a:endParaRPr sz="600">
              <a:latin typeface="Century Gothic"/>
              <a:cs typeface="Century Gothic"/>
            </a:endParaRPr>
          </a:p>
        </p:txBody>
      </p:sp>
      <p:sp>
        <p:nvSpPr>
          <p:cNvPr id="4" name="object 4"/>
          <p:cNvSpPr txBox="1"/>
          <p:nvPr/>
        </p:nvSpPr>
        <p:spPr>
          <a:xfrm>
            <a:off x="239293" y="198244"/>
            <a:ext cx="1452245" cy="244475"/>
          </a:xfrm>
          <a:prstGeom prst="rect">
            <a:avLst/>
          </a:prstGeom>
        </p:spPr>
        <p:txBody>
          <a:bodyPr vert="horz" wrap="square" lIns="0" tIns="17145" rIns="0" bIns="0" rtlCol="0">
            <a:spAutoFit/>
          </a:bodyPr>
          <a:lstStyle/>
          <a:p>
            <a:pPr marL="12700">
              <a:lnSpc>
                <a:spcPct val="100000"/>
              </a:lnSpc>
              <a:spcBef>
                <a:spcPts val="135"/>
              </a:spcBef>
            </a:pPr>
            <a:r>
              <a:rPr sz="1400" b="1" spc="-100" dirty="0">
                <a:solidFill>
                  <a:srgbClr val="0000DC"/>
                </a:solidFill>
                <a:latin typeface="Century Gothic"/>
                <a:cs typeface="Century Gothic"/>
              </a:rPr>
              <a:t>Proposed</a:t>
            </a:r>
            <a:r>
              <a:rPr sz="1400" b="1" spc="25" dirty="0">
                <a:solidFill>
                  <a:srgbClr val="0000DC"/>
                </a:solidFill>
                <a:latin typeface="Century Gothic"/>
                <a:cs typeface="Century Gothic"/>
              </a:rPr>
              <a:t> </a:t>
            </a:r>
            <a:r>
              <a:rPr sz="1400" b="1" spc="-10" dirty="0">
                <a:solidFill>
                  <a:srgbClr val="0000DC"/>
                </a:solidFill>
                <a:latin typeface="Century Gothic"/>
                <a:cs typeface="Century Gothic"/>
              </a:rPr>
              <a:t>Solution</a:t>
            </a:r>
            <a:endParaRPr sz="1400" dirty="0">
              <a:latin typeface="Century Gothic"/>
              <a:cs typeface="Century Gothic"/>
            </a:endParaRPr>
          </a:p>
        </p:txBody>
      </p:sp>
      <p:sp>
        <p:nvSpPr>
          <p:cNvPr id="5" name="object 5"/>
          <p:cNvSpPr txBox="1"/>
          <p:nvPr/>
        </p:nvSpPr>
        <p:spPr>
          <a:xfrm>
            <a:off x="215901" y="708025"/>
            <a:ext cx="5098948" cy="1950534"/>
          </a:xfrm>
          <a:prstGeom prst="rect">
            <a:avLst/>
          </a:prstGeom>
        </p:spPr>
        <p:txBody>
          <a:bodyPr vert="horz" wrap="square" lIns="0" tIns="11430" rIns="0" bIns="0" rtlCol="0">
            <a:spAutoFit/>
          </a:bodyPr>
          <a:lstStyle/>
          <a:p>
            <a:pPr marL="12700">
              <a:lnSpc>
                <a:spcPct val="100000"/>
              </a:lnSpc>
              <a:spcBef>
                <a:spcPts val="90"/>
              </a:spcBef>
            </a:pPr>
            <a:r>
              <a:rPr lang="en-US" sz="1050" dirty="0">
                <a:latin typeface="Times New Roman" panose="02020603050405020304" pitchFamily="18" charset="0"/>
                <a:cs typeface="Times New Roman" panose="02020603050405020304" pitchFamily="18" charset="0"/>
              </a:rPr>
              <a:t>The proposed system uses Federated Learning to predict traffic flow while reducing privacy risks and communication costs. Historical traffic data collected from road intersections or sensors is distributed among different clients, where each client trains a local machine‑learning model without sharing raw data. A central server coordinates the training process using Federated Averaging, which combines model updates received from clients to create a model. The updated global model is then shared with clients for training over multiple communication rounds. The system evaluates prediction accuracy using Mean Absolute Error and Root Mean Squared Error. Communication efficiency is measured by calculating the data transmitted the number of communication rounds and overall training time. Finally the proposed federated approach is compared with local learning methods to understand the trade‑off between prediction accuracy, data privacy and communication overhead aiming to achieve efficient and reliable traffic‑flow prediction, for intelligent transportation systems.</a:t>
            </a:r>
            <a:endParaRPr sz="1050" dirty="0">
              <a:latin typeface="Times New Roman" panose="02020603050405020304" pitchFamily="18" charset="0"/>
              <a:cs typeface="Times New Roman" panose="02020603050405020304" pitchFamily="18" charset="0"/>
            </a:endParaRPr>
          </a:p>
        </p:txBody>
      </p:sp>
      <p:sp>
        <p:nvSpPr>
          <p:cNvPr id="6" name="object 6"/>
          <p:cNvSpPr txBox="1"/>
          <p:nvPr/>
        </p:nvSpPr>
        <p:spPr>
          <a:xfrm>
            <a:off x="239293" y="3050083"/>
            <a:ext cx="1608455" cy="166712"/>
          </a:xfrm>
          <a:prstGeom prst="rect">
            <a:avLst/>
          </a:prstGeom>
        </p:spPr>
        <p:txBody>
          <a:bodyPr vert="horz" wrap="square" lIns="0" tIns="0" rIns="0" bIns="0" rtlCol="0">
            <a:spAutoFit/>
          </a:bodyPr>
          <a:lstStyle/>
          <a:p>
            <a:pPr marL="12700">
              <a:lnSpc>
                <a:spcPts val="1315"/>
              </a:lnSpc>
            </a:pPr>
            <a:r>
              <a:rPr lang="en-IN" sz="2100" i="1" spc="-202" baseline="-7936" dirty="0">
                <a:solidFill>
                  <a:srgbClr val="0000DC"/>
                </a:solidFill>
                <a:latin typeface="Arial Narrow"/>
                <a:cs typeface="Arial Narrow"/>
              </a:rPr>
              <a:t> </a:t>
            </a:r>
            <a:r>
              <a:rPr lang="en-IN" sz="600" b="1" dirty="0">
                <a:solidFill>
                  <a:srgbClr val="0000DC"/>
                </a:solidFill>
                <a:latin typeface="Century Gothic"/>
                <a:cs typeface="Century Gothic"/>
              </a:rPr>
              <a:t>A3-</a:t>
            </a:r>
            <a:r>
              <a:rPr lang="en-IN" sz="600" b="1" spc="-10" dirty="0">
                <a:solidFill>
                  <a:srgbClr val="0000DC"/>
                </a:solidFill>
                <a:latin typeface="Century Gothic"/>
                <a:cs typeface="Century Gothic"/>
              </a:rPr>
              <a:t>PS003-</a:t>
            </a:r>
            <a:r>
              <a:rPr lang="en-IN" sz="600" b="1" dirty="0">
                <a:solidFill>
                  <a:srgbClr val="0000DC"/>
                </a:solidFill>
                <a:latin typeface="Century Gothic"/>
                <a:cs typeface="Century Gothic"/>
              </a:rPr>
              <a:t>TC196</a:t>
            </a:r>
            <a:endParaRPr lang="en-IN" sz="600" dirty="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5</a:t>
            </a:fld>
            <a:r>
              <a:rPr spc="5" dirty="0"/>
              <a:t> </a:t>
            </a:r>
            <a:r>
              <a:rPr dirty="0"/>
              <a:t>/</a:t>
            </a:r>
            <a:r>
              <a:rPr spc="10" dirty="0"/>
              <a:t> </a:t>
            </a:r>
            <a:r>
              <a:rPr spc="-25" dirty="0"/>
              <a:t>11</a:t>
            </a: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847725"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Solution</a:t>
            </a:r>
            <a:r>
              <a:rPr sz="600" b="1" spc="9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Optimization</a:t>
            </a:r>
            <a:endParaRPr sz="600">
              <a:latin typeface="Century Gothic"/>
              <a:cs typeface="Century Gothic"/>
            </a:endParaRPr>
          </a:p>
        </p:txBody>
      </p:sp>
      <p:sp>
        <p:nvSpPr>
          <p:cNvPr id="4" name="object 4"/>
          <p:cNvSpPr txBox="1"/>
          <p:nvPr/>
        </p:nvSpPr>
        <p:spPr>
          <a:xfrm>
            <a:off x="239293" y="198244"/>
            <a:ext cx="1808480" cy="244475"/>
          </a:xfrm>
          <a:prstGeom prst="rect">
            <a:avLst/>
          </a:prstGeom>
        </p:spPr>
        <p:txBody>
          <a:bodyPr vert="horz" wrap="square" lIns="0" tIns="17145" rIns="0" bIns="0" rtlCol="0">
            <a:spAutoFit/>
          </a:bodyPr>
          <a:lstStyle/>
          <a:p>
            <a:pPr marL="12700">
              <a:lnSpc>
                <a:spcPct val="100000"/>
              </a:lnSpc>
              <a:spcBef>
                <a:spcPts val="135"/>
              </a:spcBef>
            </a:pPr>
            <a:r>
              <a:rPr sz="1400" b="1" spc="-60" dirty="0">
                <a:solidFill>
                  <a:srgbClr val="0000DC"/>
                </a:solidFill>
                <a:latin typeface="Century Gothic"/>
                <a:cs typeface="Century Gothic"/>
              </a:rPr>
              <a:t>Optimization</a:t>
            </a:r>
            <a:r>
              <a:rPr sz="1400" b="1" dirty="0">
                <a:solidFill>
                  <a:srgbClr val="0000DC"/>
                </a:solidFill>
                <a:latin typeface="Century Gothic"/>
                <a:cs typeface="Century Gothic"/>
              </a:rPr>
              <a:t> </a:t>
            </a:r>
            <a:r>
              <a:rPr sz="1400" b="1" spc="-80" dirty="0">
                <a:solidFill>
                  <a:srgbClr val="0000DC"/>
                </a:solidFill>
                <a:latin typeface="Century Gothic"/>
                <a:cs typeface="Century Gothic"/>
              </a:rPr>
              <a:t>Proposed</a:t>
            </a:r>
            <a:endParaRPr sz="1400" dirty="0">
              <a:latin typeface="Century Gothic"/>
              <a:cs typeface="Century Gothic"/>
            </a:endParaRPr>
          </a:p>
        </p:txBody>
      </p:sp>
      <p:sp>
        <p:nvSpPr>
          <p:cNvPr id="6" name="object 6"/>
          <p:cNvSpPr txBox="1"/>
          <p:nvPr/>
        </p:nvSpPr>
        <p:spPr>
          <a:xfrm>
            <a:off x="239293" y="3050083"/>
            <a:ext cx="1608455" cy="166712"/>
          </a:xfrm>
          <a:prstGeom prst="rect">
            <a:avLst/>
          </a:prstGeom>
        </p:spPr>
        <p:txBody>
          <a:bodyPr vert="horz" wrap="square" lIns="0" tIns="0" rIns="0" bIns="0" rtlCol="0">
            <a:spAutoFit/>
          </a:bodyPr>
          <a:lstStyle/>
          <a:p>
            <a:pPr marL="12700">
              <a:lnSpc>
                <a:spcPts val="1315"/>
              </a:lnSpc>
            </a:pPr>
            <a:r>
              <a:rPr lang="en-IN" sz="2100" i="1" spc="-202" baseline="-7936" dirty="0">
                <a:solidFill>
                  <a:srgbClr val="0000DC"/>
                </a:solidFill>
                <a:latin typeface="Arial Narrow"/>
                <a:cs typeface="Arial Narrow"/>
              </a:rPr>
              <a:t> </a:t>
            </a:r>
            <a:r>
              <a:rPr lang="en-IN" sz="600" b="1" dirty="0">
                <a:solidFill>
                  <a:srgbClr val="0000DC"/>
                </a:solidFill>
                <a:latin typeface="Century Gothic"/>
                <a:cs typeface="Century Gothic"/>
              </a:rPr>
              <a:t>A3-</a:t>
            </a:r>
            <a:r>
              <a:rPr lang="en-IN" sz="600" b="1" spc="-10" dirty="0">
                <a:solidFill>
                  <a:srgbClr val="0000DC"/>
                </a:solidFill>
                <a:latin typeface="Century Gothic"/>
                <a:cs typeface="Century Gothic"/>
              </a:rPr>
              <a:t>PS003-</a:t>
            </a:r>
            <a:r>
              <a:rPr lang="en-IN" sz="600" b="1" dirty="0">
                <a:solidFill>
                  <a:srgbClr val="0000DC"/>
                </a:solidFill>
                <a:latin typeface="Century Gothic"/>
                <a:cs typeface="Century Gothic"/>
              </a:rPr>
              <a:t>TC196</a:t>
            </a:r>
            <a:endParaRPr lang="en-IN" sz="600" dirty="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6</a:t>
            </a:fld>
            <a:r>
              <a:rPr spc="5" dirty="0"/>
              <a:t> </a:t>
            </a:r>
            <a:r>
              <a:rPr dirty="0"/>
              <a:t>/</a:t>
            </a:r>
            <a:r>
              <a:rPr spc="10" dirty="0"/>
              <a:t> </a:t>
            </a:r>
            <a:r>
              <a:rPr spc="-25" dirty="0"/>
              <a:t>11</a:t>
            </a:r>
          </a:p>
        </p:txBody>
      </p:sp>
      <p:graphicFrame>
        <p:nvGraphicFramePr>
          <p:cNvPr id="8" name="Table 7">
            <a:extLst>
              <a:ext uri="{FF2B5EF4-FFF2-40B4-BE49-F238E27FC236}">
                <a16:creationId xmlns:a16="http://schemas.microsoft.com/office/drawing/2014/main" id="{E72CEAE5-85AD-3E2F-EC2D-1800D287A7BB}"/>
              </a:ext>
            </a:extLst>
          </p:cNvPr>
          <p:cNvGraphicFramePr>
            <a:graphicFrameLocks noGrp="1"/>
          </p:cNvGraphicFramePr>
          <p:nvPr>
            <p:extLst>
              <p:ext uri="{D42A27DB-BD31-4B8C-83A1-F6EECF244321}">
                <p14:modId xmlns:p14="http://schemas.microsoft.com/office/powerpoint/2010/main" val="2808608061"/>
              </p:ext>
            </p:extLst>
          </p:nvPr>
        </p:nvGraphicFramePr>
        <p:xfrm>
          <a:off x="292100" y="506021"/>
          <a:ext cx="5257800" cy="2335603"/>
        </p:xfrm>
        <a:graphic>
          <a:graphicData uri="http://schemas.openxmlformats.org/drawingml/2006/table">
            <a:tbl>
              <a:tblPr>
                <a:tableStyleId>{5C22544A-7EE6-4342-B048-85BDC9FD1C3A}</a:tableStyleId>
              </a:tblPr>
              <a:tblGrid>
                <a:gridCol w="1752600">
                  <a:extLst>
                    <a:ext uri="{9D8B030D-6E8A-4147-A177-3AD203B41FA5}">
                      <a16:colId xmlns:a16="http://schemas.microsoft.com/office/drawing/2014/main" val="2742101017"/>
                    </a:ext>
                  </a:extLst>
                </a:gridCol>
                <a:gridCol w="1752600">
                  <a:extLst>
                    <a:ext uri="{9D8B030D-6E8A-4147-A177-3AD203B41FA5}">
                      <a16:colId xmlns:a16="http://schemas.microsoft.com/office/drawing/2014/main" val="2807087724"/>
                    </a:ext>
                  </a:extLst>
                </a:gridCol>
                <a:gridCol w="1752600">
                  <a:extLst>
                    <a:ext uri="{9D8B030D-6E8A-4147-A177-3AD203B41FA5}">
                      <a16:colId xmlns:a16="http://schemas.microsoft.com/office/drawing/2014/main" val="3915040991"/>
                    </a:ext>
                  </a:extLst>
                </a:gridCol>
              </a:tblGrid>
              <a:tr h="170866">
                <a:tc>
                  <a:txBody>
                    <a:bodyPr/>
                    <a:lstStyle/>
                    <a:p>
                      <a:pPr>
                        <a:buNone/>
                      </a:pPr>
                      <a:r>
                        <a:rPr lang="en-IN" sz="1000"/>
                        <a:t>Optimization</a:t>
                      </a:r>
                    </a:p>
                  </a:txBody>
                  <a:tcPr marL="9002" marR="9002" marT="4501" marB="4501" anchor="ctr"/>
                </a:tc>
                <a:tc>
                  <a:txBody>
                    <a:bodyPr/>
                    <a:lstStyle/>
                    <a:p>
                      <a:pPr>
                        <a:buNone/>
                      </a:pPr>
                      <a:r>
                        <a:rPr lang="en-IN" sz="1000" dirty="0"/>
                        <a:t>Before</a:t>
                      </a:r>
                    </a:p>
                  </a:txBody>
                  <a:tcPr marL="9002" marR="9002" marT="4501" marB="4501" anchor="ctr"/>
                </a:tc>
                <a:tc>
                  <a:txBody>
                    <a:bodyPr/>
                    <a:lstStyle/>
                    <a:p>
                      <a:pPr>
                        <a:buNone/>
                      </a:pPr>
                      <a:r>
                        <a:rPr lang="en-IN" sz="1000"/>
                        <a:t>After</a:t>
                      </a:r>
                    </a:p>
                  </a:txBody>
                  <a:tcPr marL="9002" marR="9002" marT="4501" marB="4501" anchor="ctr"/>
                </a:tc>
                <a:extLst>
                  <a:ext uri="{0D108BD9-81ED-4DB2-BD59-A6C34878D82A}">
                    <a16:rowId xmlns:a16="http://schemas.microsoft.com/office/drawing/2014/main" val="1616905294"/>
                  </a:ext>
                </a:extLst>
              </a:tr>
              <a:tr h="332202">
                <a:tc>
                  <a:txBody>
                    <a:bodyPr/>
                    <a:lstStyle/>
                    <a:p>
                      <a:pPr>
                        <a:buNone/>
                      </a:pPr>
                      <a:r>
                        <a:rPr lang="en-IN" sz="1000"/>
                        <a:t>Data Privacy</a:t>
                      </a:r>
                    </a:p>
                  </a:txBody>
                  <a:tcPr marL="9002" marR="9002" marT="4501" marB="4501" anchor="ctr"/>
                </a:tc>
                <a:tc>
                  <a:txBody>
                    <a:bodyPr/>
                    <a:lstStyle/>
                    <a:p>
                      <a:pPr>
                        <a:buNone/>
                      </a:pPr>
                      <a:r>
                        <a:rPr lang="en-IN" sz="1000"/>
                        <a:t>Raw data shared with a central server.</a:t>
                      </a:r>
                    </a:p>
                  </a:txBody>
                  <a:tcPr marL="9002" marR="9002" marT="4501" marB="4501" anchor="ctr"/>
                </a:tc>
                <a:tc>
                  <a:txBody>
                    <a:bodyPr/>
                    <a:lstStyle/>
                    <a:p>
                      <a:pPr>
                        <a:buNone/>
                      </a:pPr>
                      <a:r>
                        <a:rPr lang="en-IN" sz="1000"/>
                        <a:t>Data remains locally stored using Federated Learning.</a:t>
                      </a:r>
                    </a:p>
                  </a:txBody>
                  <a:tcPr marL="9002" marR="9002" marT="4501" marB="4501" anchor="ctr"/>
                </a:tc>
                <a:extLst>
                  <a:ext uri="{0D108BD9-81ED-4DB2-BD59-A6C34878D82A}">
                    <a16:rowId xmlns:a16="http://schemas.microsoft.com/office/drawing/2014/main" val="3336861332"/>
                  </a:ext>
                </a:extLst>
              </a:tr>
              <a:tr h="332202">
                <a:tc>
                  <a:txBody>
                    <a:bodyPr/>
                    <a:lstStyle/>
                    <a:p>
                      <a:pPr>
                        <a:buNone/>
                      </a:pPr>
                      <a:r>
                        <a:rPr lang="en-IN" sz="1000"/>
                        <a:t>Model Training</a:t>
                      </a:r>
                    </a:p>
                  </a:txBody>
                  <a:tcPr marL="9002" marR="9002" marT="4501" marB="4501" anchor="ctr"/>
                </a:tc>
                <a:tc>
                  <a:txBody>
                    <a:bodyPr/>
                    <a:lstStyle/>
                    <a:p>
                      <a:pPr>
                        <a:buNone/>
                      </a:pPr>
                      <a:r>
                        <a:rPr lang="en-IN" sz="1000"/>
                        <a:t>Independent or centralized training.</a:t>
                      </a:r>
                    </a:p>
                  </a:txBody>
                  <a:tcPr marL="9002" marR="9002" marT="4501" marB="4501" anchor="ctr"/>
                </a:tc>
                <a:tc>
                  <a:txBody>
                    <a:bodyPr/>
                    <a:lstStyle/>
                    <a:p>
                      <a:pPr>
                        <a:buNone/>
                      </a:pPr>
                      <a:r>
                        <a:rPr lang="en-IN" sz="1000"/>
                        <a:t>Collaborative training using FedAvg.</a:t>
                      </a:r>
                    </a:p>
                  </a:txBody>
                  <a:tcPr marL="9002" marR="9002" marT="4501" marB="4501" anchor="ctr"/>
                </a:tc>
                <a:extLst>
                  <a:ext uri="{0D108BD9-81ED-4DB2-BD59-A6C34878D82A}">
                    <a16:rowId xmlns:a16="http://schemas.microsoft.com/office/drawing/2014/main" val="4186312742"/>
                  </a:ext>
                </a:extLst>
              </a:tr>
              <a:tr h="493538">
                <a:tc>
                  <a:txBody>
                    <a:bodyPr/>
                    <a:lstStyle/>
                    <a:p>
                      <a:pPr>
                        <a:buNone/>
                      </a:pPr>
                      <a:r>
                        <a:rPr lang="en-IN" sz="1000" dirty="0"/>
                        <a:t>Communication Cost</a:t>
                      </a:r>
                    </a:p>
                  </a:txBody>
                  <a:tcPr marL="9002" marR="9002" marT="4501" marB="4501" anchor="ctr"/>
                </a:tc>
                <a:tc>
                  <a:txBody>
                    <a:bodyPr/>
                    <a:lstStyle/>
                    <a:p>
                      <a:pPr>
                        <a:buNone/>
                      </a:pPr>
                      <a:r>
                        <a:rPr lang="en-IN" sz="1000"/>
                        <a:t>Frequent model updates increase network usage.</a:t>
                      </a:r>
                    </a:p>
                  </a:txBody>
                  <a:tcPr marL="9002" marR="9002" marT="4501" marB="4501" anchor="ctr"/>
                </a:tc>
                <a:tc>
                  <a:txBody>
                    <a:bodyPr/>
                    <a:lstStyle/>
                    <a:p>
                      <a:pPr>
                        <a:buNone/>
                      </a:pPr>
                      <a:r>
                        <a:rPr lang="en-IN" sz="1000" dirty="0"/>
                        <a:t>Reduce communication rounds and explore model compression.</a:t>
                      </a:r>
                    </a:p>
                  </a:txBody>
                  <a:tcPr marL="9002" marR="9002" marT="4501" marB="4501" anchor="ctr"/>
                </a:tc>
                <a:extLst>
                  <a:ext uri="{0D108BD9-81ED-4DB2-BD59-A6C34878D82A}">
                    <a16:rowId xmlns:a16="http://schemas.microsoft.com/office/drawing/2014/main" val="662989047"/>
                  </a:ext>
                </a:extLst>
              </a:tr>
              <a:tr h="332202">
                <a:tc>
                  <a:txBody>
                    <a:bodyPr/>
                    <a:lstStyle/>
                    <a:p>
                      <a:pPr>
                        <a:buNone/>
                      </a:pPr>
                      <a:r>
                        <a:rPr lang="en-IN" sz="1000" dirty="0"/>
                        <a:t>Prediction Accuracy</a:t>
                      </a:r>
                    </a:p>
                  </a:txBody>
                  <a:tcPr marL="9002" marR="9002" marT="4501" marB="4501" anchor="ctr"/>
                </a:tc>
                <a:tc>
                  <a:txBody>
                    <a:bodyPr/>
                    <a:lstStyle/>
                    <a:p>
                      <a:pPr>
                        <a:buNone/>
                      </a:pPr>
                      <a:r>
                        <a:rPr lang="en-IN" sz="1000"/>
                        <a:t>Traffic variations may reduce accuracy.</a:t>
                      </a:r>
                    </a:p>
                  </a:txBody>
                  <a:tcPr marL="9002" marR="9002" marT="4501" marB="4501" anchor="ctr"/>
                </a:tc>
                <a:tc>
                  <a:txBody>
                    <a:bodyPr/>
                    <a:lstStyle/>
                    <a:p>
                      <a:pPr>
                        <a:buNone/>
                      </a:pPr>
                      <a:r>
                        <a:rPr lang="en-IN" sz="1000"/>
                        <a:t>Tune model parameters and evaluate using MAE and RMSE.</a:t>
                      </a:r>
                    </a:p>
                  </a:txBody>
                  <a:tcPr marL="9002" marR="9002" marT="4501" marB="4501" anchor="ctr"/>
                </a:tc>
                <a:extLst>
                  <a:ext uri="{0D108BD9-81ED-4DB2-BD59-A6C34878D82A}">
                    <a16:rowId xmlns:a16="http://schemas.microsoft.com/office/drawing/2014/main" val="1377520614"/>
                  </a:ext>
                </a:extLst>
              </a:tr>
              <a:tr h="332202">
                <a:tc>
                  <a:txBody>
                    <a:bodyPr/>
                    <a:lstStyle/>
                    <a:p>
                      <a:pPr>
                        <a:buNone/>
                      </a:pPr>
                      <a:r>
                        <a:rPr lang="en-IN" sz="1000"/>
                        <a:t>Non-IID Data</a:t>
                      </a:r>
                    </a:p>
                  </a:txBody>
                  <a:tcPr marL="9002" marR="9002" marT="4501" marB="4501" anchor="ctr"/>
                </a:tc>
                <a:tc>
                  <a:txBody>
                    <a:bodyPr/>
                    <a:lstStyle/>
                    <a:p>
                      <a:pPr>
                        <a:buNone/>
                      </a:pPr>
                      <a:r>
                        <a:rPr lang="en-IN" sz="1000"/>
                        <a:t>Different traffic patterns affect model performance.</a:t>
                      </a:r>
                    </a:p>
                  </a:txBody>
                  <a:tcPr marL="9002" marR="9002" marT="4501" marB="4501" anchor="ctr"/>
                </a:tc>
                <a:tc>
                  <a:txBody>
                    <a:bodyPr/>
                    <a:lstStyle/>
                    <a:p>
                      <a:pPr>
                        <a:buNone/>
                      </a:pPr>
                      <a:r>
                        <a:rPr lang="en-IN" sz="1000"/>
                        <a:t>Evaluate improved aggregation strategies.</a:t>
                      </a:r>
                    </a:p>
                  </a:txBody>
                  <a:tcPr marL="9002" marR="9002" marT="4501" marB="4501" anchor="ctr"/>
                </a:tc>
                <a:extLst>
                  <a:ext uri="{0D108BD9-81ED-4DB2-BD59-A6C34878D82A}">
                    <a16:rowId xmlns:a16="http://schemas.microsoft.com/office/drawing/2014/main" val="4219460280"/>
                  </a:ext>
                </a:extLst>
              </a:tr>
              <a:tr h="342391">
                <a:tc>
                  <a:txBody>
                    <a:bodyPr/>
                    <a:lstStyle/>
                    <a:p>
                      <a:pPr>
                        <a:buNone/>
                      </a:pPr>
                      <a:r>
                        <a:rPr lang="en-IN" sz="1000"/>
                        <a:t>Training Efficiency</a:t>
                      </a:r>
                    </a:p>
                  </a:txBody>
                  <a:tcPr marL="9002" marR="9002" marT="4501" marB="4501" anchor="ctr"/>
                </a:tc>
                <a:tc>
                  <a:txBody>
                    <a:bodyPr/>
                    <a:lstStyle/>
                    <a:p>
                      <a:pPr>
                        <a:buNone/>
                      </a:pPr>
                      <a:r>
                        <a:rPr lang="en-IN" sz="1000"/>
                        <a:t>Repeated communication increases training time.</a:t>
                      </a:r>
                    </a:p>
                  </a:txBody>
                  <a:tcPr marL="9002" marR="9002" marT="4501" marB="4501" anchor="ctr"/>
                </a:tc>
                <a:tc>
                  <a:txBody>
                    <a:bodyPr/>
                    <a:lstStyle/>
                    <a:p>
                      <a:pPr>
                        <a:buNone/>
                      </a:pPr>
                      <a:r>
                        <a:rPr lang="en-IN" sz="1000" dirty="0"/>
                        <a:t>Optimize local training epochs and communication frequency.</a:t>
                      </a:r>
                    </a:p>
                  </a:txBody>
                  <a:tcPr marL="9002" marR="9002" marT="4501" marB="4501" anchor="ctr"/>
                </a:tc>
                <a:extLst>
                  <a:ext uri="{0D108BD9-81ED-4DB2-BD59-A6C34878D82A}">
                    <a16:rowId xmlns:a16="http://schemas.microsoft.com/office/drawing/2014/main" val="2858849598"/>
                  </a:ext>
                </a:extLst>
              </a:tr>
            </a:tbl>
          </a:graphicData>
        </a:graphic>
      </p:graphicFrame>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1769745" cy="116839"/>
          </a:xfrm>
          <a:prstGeom prst="rect">
            <a:avLst/>
          </a:prstGeom>
        </p:spPr>
        <p:txBody>
          <a:bodyPr vert="horz" wrap="square" lIns="0" tIns="12065" rIns="0" bIns="0" rtlCol="0">
            <a:spAutoFit/>
          </a:bodyPr>
          <a:lstStyle/>
          <a:p>
            <a:pPr marL="12700">
              <a:lnSpc>
                <a:spcPct val="100000"/>
              </a:lnSpc>
              <a:spcBef>
                <a:spcPts val="95"/>
              </a:spcBef>
              <a:tabLst>
                <a:tab pos="450850" algn="l"/>
              </a:tabLst>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r>
              <a:rPr sz="600" b="1" dirty="0">
                <a:solidFill>
                  <a:srgbClr val="0000DC"/>
                </a:solidFill>
                <a:latin typeface="Century Gothic"/>
                <a:cs typeface="Century Gothic"/>
              </a:rPr>
              <a:t>	</a:t>
            </a:r>
            <a:r>
              <a:rPr sz="600" b="1" dirty="0">
                <a:solidFill>
                  <a:srgbClr val="0000DC"/>
                </a:solidFill>
                <a:latin typeface="Century Gothic"/>
                <a:cs typeface="Century Gothic"/>
                <a:hlinkClick r:id="rId3" action="ppaction://hlinksldjump"/>
              </a:rPr>
              <a:t>Architecture</a:t>
            </a:r>
            <a:r>
              <a:rPr sz="600" b="1" spc="15"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Design</a:t>
            </a:r>
            <a:r>
              <a:rPr sz="600" b="1" spc="15"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(UML</a:t>
            </a:r>
            <a:r>
              <a:rPr sz="600" b="1" spc="1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Diagram)</a:t>
            </a:r>
            <a:endParaRPr sz="600">
              <a:latin typeface="Century Gothic"/>
              <a:cs typeface="Century Gothic"/>
            </a:endParaRPr>
          </a:p>
        </p:txBody>
      </p:sp>
      <p:sp>
        <p:nvSpPr>
          <p:cNvPr id="3" name="object 3" descr="$PPTXTitle"/>
          <p:cNvSpPr txBox="1">
            <a:spLocks noGrp="1"/>
          </p:cNvSpPr>
          <p:nvPr>
            <p:ph type="title"/>
          </p:nvPr>
        </p:nvSpPr>
        <p:spPr>
          <a:xfrm>
            <a:off x="239293" y="106208"/>
            <a:ext cx="3789045" cy="572770"/>
          </a:xfrm>
          <a:prstGeom prst="rect">
            <a:avLst/>
          </a:prstGeom>
        </p:spPr>
        <p:txBody>
          <a:bodyPr vert="horz" wrap="square" lIns="0" tIns="109220" rIns="0" bIns="0" rtlCol="0">
            <a:spAutoFit/>
          </a:bodyPr>
          <a:lstStyle/>
          <a:p>
            <a:pPr marL="12700">
              <a:lnSpc>
                <a:spcPct val="100000"/>
              </a:lnSpc>
              <a:spcBef>
                <a:spcPts val="860"/>
              </a:spcBef>
            </a:pPr>
            <a:r>
              <a:rPr spc="-20" dirty="0"/>
              <a:t>Solution </a:t>
            </a:r>
            <a:r>
              <a:rPr spc="-85" dirty="0"/>
              <a:t>Architecture</a:t>
            </a:r>
            <a:r>
              <a:rPr spc="-15" dirty="0"/>
              <a:t> </a:t>
            </a:r>
            <a:r>
              <a:rPr spc="204" dirty="0"/>
              <a:t>&amp;</a:t>
            </a:r>
            <a:r>
              <a:rPr spc="-15" dirty="0"/>
              <a:t> </a:t>
            </a:r>
            <a:r>
              <a:rPr spc="-10" dirty="0"/>
              <a:t>Design</a:t>
            </a:r>
          </a:p>
          <a:p>
            <a:pPr marL="12700">
              <a:lnSpc>
                <a:spcPct val="100000"/>
              </a:lnSpc>
              <a:spcBef>
                <a:spcPts val="545"/>
              </a:spcBef>
            </a:pPr>
            <a:endParaRPr sz="1100" dirty="0"/>
          </a:p>
        </p:txBody>
      </p:sp>
      <p:sp>
        <p:nvSpPr>
          <p:cNvPr id="8" name="object 8"/>
          <p:cNvSpPr txBox="1"/>
          <p:nvPr/>
        </p:nvSpPr>
        <p:spPr>
          <a:xfrm>
            <a:off x="2338490" y="1359802"/>
            <a:ext cx="1083310" cy="567690"/>
          </a:xfrm>
          <a:prstGeom prst="rect">
            <a:avLst/>
          </a:prstGeom>
        </p:spPr>
        <p:txBody>
          <a:bodyPr vert="horz" wrap="square" lIns="0" tIns="13335" rIns="0" bIns="0" rtlCol="0">
            <a:spAutoFit/>
          </a:bodyPr>
          <a:lstStyle/>
          <a:p>
            <a:pPr marL="12700">
              <a:lnSpc>
                <a:spcPct val="100000"/>
              </a:lnSpc>
              <a:spcBef>
                <a:spcPts val="105"/>
              </a:spcBef>
            </a:pPr>
            <a:r>
              <a:rPr sz="3550" spc="-10" dirty="0">
                <a:latin typeface="Arial Narrow"/>
                <a:cs typeface="Arial Narrow"/>
              </a:rPr>
              <a:t>Image</a:t>
            </a:r>
            <a:endParaRPr sz="3550" dirty="0">
              <a:latin typeface="Arial Narrow"/>
              <a:cs typeface="Arial Narrow"/>
            </a:endParaRPr>
          </a:p>
        </p:txBody>
      </p:sp>
      <p:sp>
        <p:nvSpPr>
          <p:cNvPr id="9" name="object 9"/>
          <p:cNvSpPr txBox="1"/>
          <p:nvPr/>
        </p:nvSpPr>
        <p:spPr>
          <a:xfrm>
            <a:off x="1740090" y="2676606"/>
            <a:ext cx="2280285" cy="177800"/>
          </a:xfrm>
          <a:prstGeom prst="rect">
            <a:avLst/>
          </a:prstGeom>
        </p:spPr>
        <p:txBody>
          <a:bodyPr vert="horz" wrap="square" lIns="0" tIns="12065" rIns="0" bIns="0" rtlCol="0">
            <a:spAutoFit/>
          </a:bodyPr>
          <a:lstStyle/>
          <a:p>
            <a:pPr marL="12700">
              <a:lnSpc>
                <a:spcPct val="100000"/>
              </a:lnSpc>
              <a:spcBef>
                <a:spcPts val="95"/>
              </a:spcBef>
            </a:pPr>
            <a:r>
              <a:rPr sz="1000" spc="-40" dirty="0">
                <a:solidFill>
                  <a:srgbClr val="0000DC"/>
                </a:solidFill>
                <a:latin typeface="Century Gothic"/>
                <a:cs typeface="Century Gothic"/>
              </a:rPr>
              <a:t>Figure:</a:t>
            </a:r>
            <a:r>
              <a:rPr sz="1000" dirty="0">
                <a:solidFill>
                  <a:srgbClr val="0000DC"/>
                </a:solidFill>
                <a:latin typeface="Century Gothic"/>
                <a:cs typeface="Century Gothic"/>
              </a:rPr>
              <a:t> </a:t>
            </a:r>
            <a:r>
              <a:rPr sz="1000" spc="-60" dirty="0">
                <a:latin typeface="Century Gothic"/>
                <a:cs typeface="Century Gothic"/>
              </a:rPr>
              <a:t>System</a:t>
            </a:r>
            <a:r>
              <a:rPr sz="1000" dirty="0">
                <a:latin typeface="Century Gothic"/>
                <a:cs typeface="Century Gothic"/>
              </a:rPr>
              <a:t> </a:t>
            </a:r>
            <a:r>
              <a:rPr sz="1000" spc="-80" dirty="0">
                <a:latin typeface="Century Gothic"/>
                <a:cs typeface="Century Gothic"/>
              </a:rPr>
              <a:t>Architecture</a:t>
            </a:r>
            <a:r>
              <a:rPr sz="1000" dirty="0">
                <a:latin typeface="Century Gothic"/>
                <a:cs typeface="Century Gothic"/>
              </a:rPr>
              <a:t> </a:t>
            </a:r>
            <a:r>
              <a:rPr sz="1000" spc="-25" dirty="0">
                <a:latin typeface="Century Gothic"/>
                <a:cs typeface="Century Gothic"/>
              </a:rPr>
              <a:t>UML</a:t>
            </a:r>
            <a:r>
              <a:rPr sz="1000" dirty="0">
                <a:latin typeface="Century Gothic"/>
                <a:cs typeface="Century Gothic"/>
              </a:rPr>
              <a:t> </a:t>
            </a:r>
            <a:r>
              <a:rPr sz="1000" spc="-75" dirty="0">
                <a:latin typeface="Century Gothic"/>
                <a:cs typeface="Century Gothic"/>
              </a:rPr>
              <a:t>Diagram</a:t>
            </a:r>
            <a:endParaRPr sz="1000">
              <a:latin typeface="Century Gothic"/>
              <a:cs typeface="Century Gothic"/>
            </a:endParaRPr>
          </a:p>
        </p:txBody>
      </p:sp>
      <p:sp>
        <p:nvSpPr>
          <p:cNvPr id="10" name="object 10"/>
          <p:cNvSpPr txBox="1"/>
          <p:nvPr/>
        </p:nvSpPr>
        <p:spPr>
          <a:xfrm>
            <a:off x="239293" y="3050083"/>
            <a:ext cx="1608455" cy="142027"/>
          </a:xfrm>
          <a:prstGeom prst="rect">
            <a:avLst/>
          </a:prstGeom>
        </p:spPr>
        <p:txBody>
          <a:bodyPr vert="horz" wrap="square" lIns="0" tIns="0" rIns="0" bIns="0" rtlCol="0">
            <a:spAutoFit/>
          </a:bodyPr>
          <a:lstStyle/>
          <a:p>
            <a:pPr marL="12700">
              <a:lnSpc>
                <a:spcPts val="1315"/>
              </a:lnSpc>
            </a:pPr>
            <a:r>
              <a:rPr sz="600" b="1" dirty="0">
                <a:solidFill>
                  <a:srgbClr val="0000DC"/>
                </a:solidFill>
                <a:latin typeface="Century Gothic"/>
                <a:cs typeface="Century Gothic"/>
              </a:rPr>
              <a:t>A3-</a:t>
            </a:r>
            <a:r>
              <a:rPr sz="600" b="1" spc="-10" dirty="0">
                <a:solidFill>
                  <a:srgbClr val="0000DC"/>
                </a:solidFill>
                <a:latin typeface="Century Gothic"/>
                <a:cs typeface="Century Gothic"/>
              </a:rPr>
              <a:t>PS00</a:t>
            </a:r>
            <a:r>
              <a:rPr lang="en-IN" sz="600" b="1" spc="-10" dirty="0">
                <a:solidFill>
                  <a:srgbClr val="0000DC"/>
                </a:solidFill>
                <a:latin typeface="Century Gothic"/>
                <a:cs typeface="Century Gothic"/>
              </a:rPr>
              <a:t>3</a:t>
            </a:r>
            <a:r>
              <a:rPr sz="600" b="1" spc="-10" dirty="0">
                <a:solidFill>
                  <a:srgbClr val="0000DC"/>
                </a:solidFill>
                <a:latin typeface="Century Gothic"/>
                <a:cs typeface="Century Gothic"/>
              </a:rPr>
              <a:t>-</a:t>
            </a:r>
            <a:r>
              <a:rPr sz="600" b="1" dirty="0">
                <a:solidFill>
                  <a:srgbClr val="0000DC"/>
                </a:solidFill>
                <a:latin typeface="Century Gothic"/>
                <a:cs typeface="Century Gothic"/>
              </a:rPr>
              <a:t>TC</a:t>
            </a:r>
            <a:r>
              <a:rPr lang="en-IN" sz="600" b="1" dirty="0">
                <a:solidFill>
                  <a:srgbClr val="0000DC"/>
                </a:solidFill>
                <a:latin typeface="Century Gothic"/>
                <a:cs typeface="Century Gothic"/>
              </a:rPr>
              <a:t>196</a:t>
            </a:r>
            <a:endParaRPr sz="600" dirty="0">
              <a:latin typeface="Century Gothic"/>
              <a:cs typeface="Century Gothic"/>
            </a:endParaRPr>
          </a:p>
        </p:txBody>
      </p:sp>
      <p:sp>
        <p:nvSpPr>
          <p:cNvPr id="11" name="object 11"/>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7</a:t>
            </a:fld>
            <a:r>
              <a:rPr spc="5" dirty="0"/>
              <a:t> </a:t>
            </a:r>
            <a:r>
              <a:rPr dirty="0"/>
              <a:t>/</a:t>
            </a:r>
            <a:r>
              <a:rPr spc="10" dirty="0"/>
              <a:t> </a:t>
            </a:r>
            <a:r>
              <a:rPr spc="-25" dirty="0"/>
              <a:t>11</a:t>
            </a:r>
          </a:p>
        </p:txBody>
      </p:sp>
      <p:pic>
        <p:nvPicPr>
          <p:cNvPr id="17" name="Picture 16">
            <a:extLst>
              <a:ext uri="{FF2B5EF4-FFF2-40B4-BE49-F238E27FC236}">
                <a16:creationId xmlns:a16="http://schemas.microsoft.com/office/drawing/2014/main" id="{B6870C52-C1EB-9996-47A1-C68EF7E0055F}"/>
              </a:ext>
            </a:extLst>
          </p:cNvPr>
          <p:cNvPicPr>
            <a:picLocks noChangeAspect="1"/>
          </p:cNvPicPr>
          <p:nvPr/>
        </p:nvPicPr>
        <p:blipFill>
          <a:blip r:embed="rId4"/>
          <a:stretch>
            <a:fillRect/>
          </a:stretch>
        </p:blipFill>
        <p:spPr>
          <a:xfrm>
            <a:off x="596900" y="479425"/>
            <a:ext cx="4876800" cy="2514599"/>
          </a:xfrm>
          <a:prstGeom prst="rect">
            <a:avLst/>
          </a:prstGeom>
        </p:spPr>
      </p:pic>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1169035" cy="116839"/>
          </a:xfrm>
          <a:prstGeom prst="rect">
            <a:avLst/>
          </a:prstGeom>
        </p:spPr>
        <p:txBody>
          <a:bodyPr vert="horz" wrap="square" lIns="0" tIns="12065" rIns="0" bIns="0" rtlCol="0">
            <a:spAutoFit/>
          </a:bodyPr>
          <a:lstStyle/>
          <a:p>
            <a:pPr marL="12700">
              <a:lnSpc>
                <a:spcPct val="100000"/>
              </a:lnSpc>
              <a:spcBef>
                <a:spcPts val="95"/>
              </a:spcBef>
              <a:tabLst>
                <a:tab pos="450850" algn="l"/>
              </a:tabLst>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r>
              <a:rPr sz="600" b="1" dirty="0">
                <a:solidFill>
                  <a:srgbClr val="0000DC"/>
                </a:solidFill>
                <a:latin typeface="Century Gothic"/>
                <a:cs typeface="Century Gothic"/>
              </a:rPr>
              <a:t>	</a:t>
            </a:r>
            <a:r>
              <a:rPr sz="600" b="1" spc="-10" dirty="0">
                <a:solidFill>
                  <a:srgbClr val="0000DC"/>
                </a:solidFill>
                <a:latin typeface="Century Gothic"/>
                <a:cs typeface="Century Gothic"/>
                <a:hlinkClick r:id="rId3" action="ppaction://hlinksldjump"/>
              </a:rPr>
              <a:t>Data</a:t>
            </a:r>
            <a:r>
              <a:rPr sz="600" b="1" spc="20"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Flow</a:t>
            </a:r>
            <a:r>
              <a:rPr sz="600" b="1" spc="20"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Diagram</a:t>
            </a:r>
            <a:endParaRPr sz="600">
              <a:latin typeface="Century Gothic"/>
              <a:cs typeface="Century Gothic"/>
            </a:endParaRPr>
          </a:p>
        </p:txBody>
      </p:sp>
      <p:sp>
        <p:nvSpPr>
          <p:cNvPr id="3" name="object 3" descr="$PPTXTitle"/>
          <p:cNvSpPr txBox="1">
            <a:spLocks noGrp="1"/>
          </p:cNvSpPr>
          <p:nvPr>
            <p:ph type="title"/>
          </p:nvPr>
        </p:nvSpPr>
        <p:spPr>
          <a:xfrm>
            <a:off x="239293" y="106208"/>
            <a:ext cx="4951730" cy="325730"/>
          </a:xfrm>
          <a:prstGeom prst="rect">
            <a:avLst/>
          </a:prstGeom>
        </p:spPr>
        <p:txBody>
          <a:bodyPr vert="horz" wrap="square" lIns="0" tIns="109220" rIns="0" bIns="0" rtlCol="0">
            <a:spAutoFit/>
          </a:bodyPr>
          <a:lstStyle/>
          <a:p>
            <a:pPr marL="12700">
              <a:lnSpc>
                <a:spcPct val="100000"/>
              </a:lnSpc>
              <a:spcBef>
                <a:spcPts val="860"/>
              </a:spcBef>
            </a:pPr>
            <a:r>
              <a:rPr spc="-114" dirty="0"/>
              <a:t>Data</a:t>
            </a:r>
            <a:r>
              <a:rPr spc="-30" dirty="0"/>
              <a:t> </a:t>
            </a:r>
            <a:r>
              <a:rPr spc="-20" dirty="0"/>
              <a:t>Flow</a:t>
            </a:r>
            <a:r>
              <a:rPr spc="-30" dirty="0"/>
              <a:t> </a:t>
            </a:r>
            <a:r>
              <a:rPr spc="-10" dirty="0"/>
              <a:t>Diagram</a:t>
            </a:r>
          </a:p>
        </p:txBody>
      </p:sp>
      <p:grpSp>
        <p:nvGrpSpPr>
          <p:cNvPr id="4" name="object 4"/>
          <p:cNvGrpSpPr/>
          <p:nvPr/>
        </p:nvGrpSpPr>
        <p:grpSpPr>
          <a:xfrm>
            <a:off x="1745835" y="1023900"/>
            <a:ext cx="2268855" cy="1704339"/>
            <a:chOff x="1745835" y="1023900"/>
            <a:chExt cx="2268855" cy="1704339"/>
          </a:xfrm>
        </p:grpSpPr>
        <p:sp>
          <p:nvSpPr>
            <p:cNvPr id="5" name="object 5"/>
            <p:cNvSpPr/>
            <p:nvPr/>
          </p:nvSpPr>
          <p:spPr>
            <a:xfrm>
              <a:off x="1751457" y="1029521"/>
              <a:ext cx="2257425" cy="1692910"/>
            </a:xfrm>
            <a:custGeom>
              <a:avLst/>
              <a:gdLst/>
              <a:ahLst/>
              <a:cxnLst/>
              <a:rect l="l" t="t" r="r" b="b"/>
              <a:pathLst>
                <a:path w="2257425" h="1692910">
                  <a:moveTo>
                    <a:pt x="0" y="1692850"/>
                  </a:moveTo>
                  <a:lnTo>
                    <a:pt x="0" y="0"/>
                  </a:lnTo>
                  <a:lnTo>
                    <a:pt x="2257133" y="0"/>
                  </a:lnTo>
                  <a:lnTo>
                    <a:pt x="2257133" y="1692850"/>
                  </a:lnTo>
                  <a:lnTo>
                    <a:pt x="0" y="1692850"/>
                  </a:lnTo>
                  <a:close/>
                </a:path>
              </a:pathLst>
            </a:custGeom>
            <a:solidFill>
              <a:srgbClr val="BFBFBF"/>
            </a:solidFill>
          </p:spPr>
          <p:txBody>
            <a:bodyPr wrap="square" lIns="0" tIns="0" rIns="0" bIns="0" rtlCol="0"/>
            <a:lstStyle/>
            <a:p>
              <a:endParaRPr/>
            </a:p>
          </p:txBody>
        </p:sp>
        <p:sp>
          <p:nvSpPr>
            <p:cNvPr id="6" name="object 6"/>
            <p:cNvSpPr/>
            <p:nvPr/>
          </p:nvSpPr>
          <p:spPr>
            <a:xfrm>
              <a:off x="1751457" y="1029521"/>
              <a:ext cx="2257425" cy="1692910"/>
            </a:xfrm>
            <a:custGeom>
              <a:avLst/>
              <a:gdLst/>
              <a:ahLst/>
              <a:cxnLst/>
              <a:rect l="l" t="t" r="r" b="b"/>
              <a:pathLst>
                <a:path w="2257425" h="1692910">
                  <a:moveTo>
                    <a:pt x="0" y="1692850"/>
                  </a:moveTo>
                  <a:lnTo>
                    <a:pt x="2257133" y="0"/>
                  </a:lnTo>
                </a:path>
                <a:path w="2257425" h="1692910">
                  <a:moveTo>
                    <a:pt x="2257133" y="1692850"/>
                  </a:moveTo>
                  <a:lnTo>
                    <a:pt x="0" y="0"/>
                  </a:lnTo>
                </a:path>
                <a:path w="2257425" h="1692910">
                  <a:moveTo>
                    <a:pt x="1128566" y="1692850"/>
                  </a:moveTo>
                  <a:lnTo>
                    <a:pt x="1128566" y="0"/>
                  </a:lnTo>
                </a:path>
                <a:path w="2257425" h="1692910">
                  <a:moveTo>
                    <a:pt x="0" y="846425"/>
                  </a:moveTo>
                  <a:lnTo>
                    <a:pt x="2257133" y="846425"/>
                  </a:lnTo>
                </a:path>
              </a:pathLst>
            </a:custGeom>
            <a:ln w="5621">
              <a:solidFill>
                <a:srgbClr val="999999"/>
              </a:solidFill>
            </a:ln>
          </p:spPr>
          <p:txBody>
            <a:bodyPr wrap="square" lIns="0" tIns="0" rIns="0" bIns="0" rtlCol="0"/>
            <a:lstStyle/>
            <a:p>
              <a:endParaRPr/>
            </a:p>
          </p:txBody>
        </p:sp>
        <p:sp>
          <p:nvSpPr>
            <p:cNvPr id="7" name="object 7"/>
            <p:cNvSpPr/>
            <p:nvPr/>
          </p:nvSpPr>
          <p:spPr>
            <a:xfrm>
              <a:off x="1751457" y="1029521"/>
              <a:ext cx="2257425" cy="1692910"/>
            </a:xfrm>
            <a:custGeom>
              <a:avLst/>
              <a:gdLst/>
              <a:ahLst/>
              <a:cxnLst/>
              <a:rect l="l" t="t" r="r" b="b"/>
              <a:pathLst>
                <a:path w="2257425" h="1692910">
                  <a:moveTo>
                    <a:pt x="0" y="1692850"/>
                  </a:moveTo>
                  <a:lnTo>
                    <a:pt x="0" y="0"/>
                  </a:lnTo>
                  <a:lnTo>
                    <a:pt x="2257133" y="0"/>
                  </a:lnTo>
                  <a:lnTo>
                    <a:pt x="2257133" y="1692850"/>
                  </a:lnTo>
                  <a:lnTo>
                    <a:pt x="0" y="1692850"/>
                  </a:lnTo>
                  <a:close/>
                </a:path>
              </a:pathLst>
            </a:custGeom>
            <a:ln w="11243">
              <a:solidFill>
                <a:srgbClr val="000000"/>
              </a:solidFill>
            </a:ln>
          </p:spPr>
          <p:txBody>
            <a:bodyPr wrap="square" lIns="0" tIns="0" rIns="0" bIns="0" rtlCol="0"/>
            <a:lstStyle/>
            <a:p>
              <a:endParaRPr/>
            </a:p>
          </p:txBody>
        </p:sp>
      </p:grpSp>
      <p:sp>
        <p:nvSpPr>
          <p:cNvPr id="8" name="object 8"/>
          <p:cNvSpPr txBox="1"/>
          <p:nvPr/>
        </p:nvSpPr>
        <p:spPr>
          <a:xfrm>
            <a:off x="2338490" y="1526998"/>
            <a:ext cx="1083310" cy="567690"/>
          </a:xfrm>
          <a:prstGeom prst="rect">
            <a:avLst/>
          </a:prstGeom>
        </p:spPr>
        <p:txBody>
          <a:bodyPr vert="horz" wrap="square" lIns="0" tIns="13335" rIns="0" bIns="0" rtlCol="0">
            <a:spAutoFit/>
          </a:bodyPr>
          <a:lstStyle/>
          <a:p>
            <a:pPr marL="12700">
              <a:lnSpc>
                <a:spcPct val="100000"/>
              </a:lnSpc>
              <a:spcBef>
                <a:spcPts val="105"/>
              </a:spcBef>
            </a:pPr>
            <a:r>
              <a:rPr sz="3550" spc="-10" dirty="0">
                <a:latin typeface="Arial Narrow"/>
                <a:cs typeface="Arial Narrow"/>
              </a:rPr>
              <a:t>Image</a:t>
            </a:r>
            <a:endParaRPr sz="3550">
              <a:latin typeface="Arial Narrow"/>
              <a:cs typeface="Arial Narrow"/>
            </a:endParaRPr>
          </a:p>
        </p:txBody>
      </p:sp>
      <p:sp>
        <p:nvSpPr>
          <p:cNvPr id="9" name="object 9"/>
          <p:cNvSpPr txBox="1"/>
          <p:nvPr/>
        </p:nvSpPr>
        <p:spPr>
          <a:xfrm>
            <a:off x="1979218" y="2843789"/>
            <a:ext cx="1802130" cy="177800"/>
          </a:xfrm>
          <a:prstGeom prst="rect">
            <a:avLst/>
          </a:prstGeom>
        </p:spPr>
        <p:txBody>
          <a:bodyPr vert="horz" wrap="square" lIns="0" tIns="12065" rIns="0" bIns="0" rtlCol="0">
            <a:spAutoFit/>
          </a:bodyPr>
          <a:lstStyle/>
          <a:p>
            <a:pPr marL="12700">
              <a:lnSpc>
                <a:spcPct val="100000"/>
              </a:lnSpc>
              <a:spcBef>
                <a:spcPts val="95"/>
              </a:spcBef>
            </a:pPr>
            <a:r>
              <a:rPr sz="1000" spc="-40" dirty="0">
                <a:solidFill>
                  <a:srgbClr val="0000DC"/>
                </a:solidFill>
                <a:latin typeface="Century Gothic"/>
                <a:cs typeface="Century Gothic"/>
              </a:rPr>
              <a:t>Figure:</a:t>
            </a:r>
            <a:r>
              <a:rPr sz="1000" dirty="0">
                <a:solidFill>
                  <a:srgbClr val="0000DC"/>
                </a:solidFill>
                <a:latin typeface="Century Gothic"/>
                <a:cs typeface="Century Gothic"/>
              </a:rPr>
              <a:t> </a:t>
            </a:r>
            <a:r>
              <a:rPr sz="1000" spc="-130" dirty="0">
                <a:latin typeface="Century Gothic"/>
                <a:cs typeface="Century Gothic"/>
              </a:rPr>
              <a:t>Data</a:t>
            </a:r>
            <a:r>
              <a:rPr sz="1000" dirty="0">
                <a:latin typeface="Century Gothic"/>
                <a:cs typeface="Century Gothic"/>
              </a:rPr>
              <a:t> </a:t>
            </a:r>
            <a:r>
              <a:rPr sz="1000" spc="-25" dirty="0">
                <a:latin typeface="Century Gothic"/>
                <a:cs typeface="Century Gothic"/>
              </a:rPr>
              <a:t>Flow</a:t>
            </a:r>
            <a:r>
              <a:rPr sz="1000" dirty="0">
                <a:latin typeface="Century Gothic"/>
                <a:cs typeface="Century Gothic"/>
              </a:rPr>
              <a:t> </a:t>
            </a:r>
            <a:r>
              <a:rPr sz="1000" spc="-105" dirty="0">
                <a:latin typeface="Century Gothic"/>
                <a:cs typeface="Century Gothic"/>
              </a:rPr>
              <a:t>Diagram</a:t>
            </a:r>
            <a:r>
              <a:rPr sz="1000" dirty="0">
                <a:latin typeface="Century Gothic"/>
                <a:cs typeface="Century Gothic"/>
              </a:rPr>
              <a:t> </a:t>
            </a:r>
            <a:r>
              <a:rPr sz="1000" spc="-55" dirty="0">
                <a:latin typeface="Century Gothic"/>
                <a:cs typeface="Century Gothic"/>
              </a:rPr>
              <a:t>(DFD)</a:t>
            </a:r>
            <a:endParaRPr sz="1000">
              <a:latin typeface="Century Gothic"/>
              <a:cs typeface="Century Gothic"/>
            </a:endParaRPr>
          </a:p>
        </p:txBody>
      </p:sp>
      <p:sp>
        <p:nvSpPr>
          <p:cNvPr id="10" name="object 10"/>
          <p:cNvSpPr txBox="1"/>
          <p:nvPr/>
        </p:nvSpPr>
        <p:spPr>
          <a:xfrm>
            <a:off x="239293" y="3050083"/>
            <a:ext cx="1608455" cy="308802"/>
          </a:xfrm>
          <a:prstGeom prst="rect">
            <a:avLst/>
          </a:prstGeom>
        </p:spPr>
        <p:txBody>
          <a:bodyPr vert="horz" wrap="square" lIns="0" tIns="0" rIns="0" bIns="0" rtlCol="0">
            <a:spAutoFit/>
          </a:bodyPr>
          <a:lstStyle/>
          <a:p>
            <a:pPr marL="12700">
              <a:lnSpc>
                <a:spcPts val="1315"/>
              </a:lnSpc>
            </a:pPr>
            <a:r>
              <a:rPr lang="en-IN" sz="2100" i="1" spc="-202" baseline="-7936" dirty="0">
                <a:solidFill>
                  <a:srgbClr val="0000DC"/>
                </a:solidFill>
                <a:latin typeface="Arial Narrow"/>
                <a:cs typeface="Arial Narrow"/>
              </a:rPr>
              <a:t> </a:t>
            </a:r>
            <a:r>
              <a:rPr lang="en-IN" sz="600" b="1" dirty="0">
                <a:solidFill>
                  <a:srgbClr val="0000DC"/>
                </a:solidFill>
                <a:latin typeface="Century Gothic"/>
                <a:cs typeface="Century Gothic"/>
              </a:rPr>
              <a:t>A3-</a:t>
            </a:r>
            <a:r>
              <a:rPr lang="en-IN" sz="600" b="1" spc="-10" dirty="0">
                <a:solidFill>
                  <a:srgbClr val="0000DC"/>
                </a:solidFill>
                <a:latin typeface="Century Gothic"/>
                <a:cs typeface="Century Gothic"/>
              </a:rPr>
              <a:t>PS003-</a:t>
            </a:r>
            <a:r>
              <a:rPr lang="en-IN" sz="600" b="1" dirty="0">
                <a:solidFill>
                  <a:srgbClr val="0000DC"/>
                </a:solidFill>
                <a:latin typeface="Century Gothic"/>
                <a:cs typeface="Century Gothic"/>
              </a:rPr>
              <a:t>TC196</a:t>
            </a:r>
            <a:endParaRPr lang="en-IN" sz="600" dirty="0">
              <a:latin typeface="Century Gothic"/>
              <a:cs typeface="Century Gothic"/>
            </a:endParaRPr>
          </a:p>
          <a:p>
            <a:pPr marL="12700">
              <a:lnSpc>
                <a:spcPts val="1315"/>
              </a:lnSpc>
            </a:pPr>
            <a:endParaRPr sz="600" dirty="0">
              <a:latin typeface="Century Gothic"/>
              <a:cs typeface="Century Gothic"/>
            </a:endParaRPr>
          </a:p>
        </p:txBody>
      </p:sp>
      <p:sp>
        <p:nvSpPr>
          <p:cNvPr id="11" name="object 11"/>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8</a:t>
            </a:fld>
            <a:r>
              <a:rPr spc="5" dirty="0"/>
              <a:t> </a:t>
            </a:r>
            <a:r>
              <a:rPr dirty="0"/>
              <a:t>/</a:t>
            </a:r>
            <a:r>
              <a:rPr spc="10" dirty="0"/>
              <a:t> </a:t>
            </a:r>
            <a:r>
              <a:rPr spc="-25" dirty="0"/>
              <a:t>11</a:t>
            </a:r>
          </a:p>
        </p:txBody>
      </p:sp>
      <p:pic>
        <p:nvPicPr>
          <p:cNvPr id="13" name="Picture 12">
            <a:extLst>
              <a:ext uri="{FF2B5EF4-FFF2-40B4-BE49-F238E27FC236}">
                <a16:creationId xmlns:a16="http://schemas.microsoft.com/office/drawing/2014/main" id="{F4183C1B-63A9-4A55-BCEF-65C0152DFE58}"/>
              </a:ext>
            </a:extLst>
          </p:cNvPr>
          <p:cNvPicPr>
            <a:picLocks noChangeAspect="1"/>
          </p:cNvPicPr>
          <p:nvPr/>
        </p:nvPicPr>
        <p:blipFill>
          <a:blip r:embed="rId4"/>
          <a:stretch>
            <a:fillRect/>
          </a:stretch>
        </p:blipFill>
        <p:spPr>
          <a:xfrm>
            <a:off x="218479" y="521149"/>
            <a:ext cx="5016499" cy="2506767"/>
          </a:xfrm>
          <a:prstGeom prst="rect">
            <a:avLst/>
          </a:prstGeom>
        </p:spPr>
      </p:pic>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83058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3" action="ppaction://hlinksldjump"/>
              </a:rPr>
              <a:t>Deployment</a:t>
            </a:r>
            <a:r>
              <a:rPr sz="600" b="1" spc="-3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Timeline</a:t>
            </a:r>
            <a:endParaRPr sz="600">
              <a:latin typeface="Century Gothic"/>
              <a:cs typeface="Century Gothic"/>
            </a:endParaRPr>
          </a:p>
        </p:txBody>
      </p:sp>
      <p:sp>
        <p:nvSpPr>
          <p:cNvPr id="4" name="object 4"/>
          <p:cNvSpPr txBox="1"/>
          <p:nvPr/>
        </p:nvSpPr>
        <p:spPr>
          <a:xfrm>
            <a:off x="239293" y="198244"/>
            <a:ext cx="1704975" cy="244475"/>
          </a:xfrm>
          <a:prstGeom prst="rect">
            <a:avLst/>
          </a:prstGeom>
        </p:spPr>
        <p:txBody>
          <a:bodyPr vert="horz" wrap="square" lIns="0" tIns="17145" rIns="0" bIns="0" rtlCol="0">
            <a:spAutoFit/>
          </a:bodyPr>
          <a:lstStyle/>
          <a:p>
            <a:pPr marL="12700">
              <a:lnSpc>
                <a:spcPct val="100000"/>
              </a:lnSpc>
              <a:spcBef>
                <a:spcPts val="135"/>
              </a:spcBef>
            </a:pPr>
            <a:r>
              <a:rPr sz="1400" b="1" spc="-95" dirty="0">
                <a:solidFill>
                  <a:srgbClr val="0000DC"/>
                </a:solidFill>
                <a:latin typeface="Century Gothic"/>
                <a:cs typeface="Century Gothic"/>
              </a:rPr>
              <a:t>Deployment</a:t>
            </a:r>
            <a:r>
              <a:rPr sz="1400" b="1" spc="-20" dirty="0">
                <a:solidFill>
                  <a:srgbClr val="0000DC"/>
                </a:solidFill>
                <a:latin typeface="Century Gothic"/>
                <a:cs typeface="Century Gothic"/>
              </a:rPr>
              <a:t> </a:t>
            </a:r>
            <a:r>
              <a:rPr sz="1400" b="1" spc="-10" dirty="0">
                <a:solidFill>
                  <a:srgbClr val="0000DC"/>
                </a:solidFill>
                <a:latin typeface="Century Gothic"/>
                <a:cs typeface="Century Gothic"/>
              </a:rPr>
              <a:t>Timeline</a:t>
            </a:r>
            <a:endParaRPr sz="1400" dirty="0">
              <a:latin typeface="Century Gothic"/>
              <a:cs typeface="Century Gothic"/>
            </a:endParaRPr>
          </a:p>
        </p:txBody>
      </p:sp>
      <p:sp>
        <p:nvSpPr>
          <p:cNvPr id="6" name="object 6"/>
          <p:cNvSpPr txBox="1"/>
          <p:nvPr/>
        </p:nvSpPr>
        <p:spPr>
          <a:xfrm>
            <a:off x="239293" y="3050083"/>
            <a:ext cx="1608455" cy="166712"/>
          </a:xfrm>
          <a:prstGeom prst="rect">
            <a:avLst/>
          </a:prstGeom>
        </p:spPr>
        <p:txBody>
          <a:bodyPr vert="horz" wrap="square" lIns="0" tIns="0" rIns="0" bIns="0" rtlCol="0">
            <a:spAutoFit/>
          </a:bodyPr>
          <a:lstStyle/>
          <a:p>
            <a:pPr marL="12700">
              <a:lnSpc>
                <a:spcPts val="1315"/>
              </a:lnSpc>
            </a:pPr>
            <a:r>
              <a:rPr lang="en-IN" sz="2100" i="1" spc="-202" baseline="-7936" dirty="0">
                <a:solidFill>
                  <a:srgbClr val="0000DC"/>
                </a:solidFill>
                <a:latin typeface="Arial Narrow"/>
                <a:cs typeface="Arial Narrow"/>
              </a:rPr>
              <a:t> </a:t>
            </a:r>
            <a:r>
              <a:rPr lang="en-IN" sz="600" b="1" dirty="0">
                <a:solidFill>
                  <a:srgbClr val="0000DC"/>
                </a:solidFill>
                <a:latin typeface="Century Gothic"/>
                <a:cs typeface="Century Gothic"/>
              </a:rPr>
              <a:t>A3-</a:t>
            </a:r>
            <a:r>
              <a:rPr lang="en-IN" sz="600" b="1" spc="-10" dirty="0">
                <a:solidFill>
                  <a:srgbClr val="0000DC"/>
                </a:solidFill>
                <a:latin typeface="Century Gothic"/>
                <a:cs typeface="Century Gothic"/>
              </a:rPr>
              <a:t>PS003-</a:t>
            </a:r>
            <a:r>
              <a:rPr lang="en-IN" sz="600" b="1" dirty="0">
                <a:solidFill>
                  <a:srgbClr val="0000DC"/>
                </a:solidFill>
                <a:latin typeface="Century Gothic"/>
                <a:cs typeface="Century Gothic"/>
              </a:rPr>
              <a:t>TC196</a:t>
            </a:r>
            <a:endParaRPr lang="en-IN" sz="600" dirty="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9</a:t>
            </a:fld>
            <a:r>
              <a:rPr spc="5" dirty="0"/>
              <a:t> </a:t>
            </a:r>
            <a:r>
              <a:rPr dirty="0"/>
              <a:t>/</a:t>
            </a:r>
            <a:r>
              <a:rPr spc="10" dirty="0"/>
              <a:t> </a:t>
            </a:r>
            <a:r>
              <a:rPr spc="-25" dirty="0"/>
              <a:t>11</a:t>
            </a:r>
          </a:p>
        </p:txBody>
      </p:sp>
      <p:pic>
        <p:nvPicPr>
          <p:cNvPr id="9" name="Picture 8">
            <a:extLst>
              <a:ext uri="{FF2B5EF4-FFF2-40B4-BE49-F238E27FC236}">
                <a16:creationId xmlns:a16="http://schemas.microsoft.com/office/drawing/2014/main" id="{9DD098EB-2620-99C1-8B61-CF372981ADB0}"/>
              </a:ext>
            </a:extLst>
          </p:cNvPr>
          <p:cNvPicPr>
            <a:picLocks noChangeAspect="1"/>
          </p:cNvPicPr>
          <p:nvPr/>
        </p:nvPicPr>
        <p:blipFill>
          <a:blip r:embed="rId4"/>
          <a:stretch>
            <a:fillRect/>
          </a:stretch>
        </p:blipFill>
        <p:spPr>
          <a:xfrm>
            <a:off x="139701" y="555624"/>
            <a:ext cx="4800600" cy="2438401"/>
          </a:xfrm>
          <a:prstGeom prst="rect">
            <a:avLst/>
          </a:prstGeom>
        </p:spPr>
      </p:pic>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12885" y="16997"/>
            <a:ext cx="500380"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2" action="ppaction://hlinksldjump"/>
              </a:rPr>
              <a:t>Bibliography</a:t>
            </a:r>
            <a:endParaRPr sz="600">
              <a:latin typeface="Century Gothic"/>
              <a:cs typeface="Century Gothic"/>
            </a:endParaRPr>
          </a:p>
        </p:txBody>
      </p:sp>
      <p:sp>
        <p:nvSpPr>
          <p:cNvPr id="3" name="object 3" descr="$PPTXTitle"/>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65" dirty="0"/>
              <a:t>Bibliography</a:t>
            </a:r>
            <a:r>
              <a:rPr spc="-20" dirty="0"/>
              <a:t> </a:t>
            </a:r>
            <a:r>
              <a:rPr spc="-50" dirty="0"/>
              <a:t>I</a:t>
            </a:r>
          </a:p>
        </p:txBody>
      </p:sp>
      <p:sp>
        <p:nvSpPr>
          <p:cNvPr id="4" name="object 4"/>
          <p:cNvSpPr txBox="1">
            <a:spLocks noGrp="1"/>
          </p:cNvSpPr>
          <p:nvPr>
            <p:ph type="body" idx="1"/>
          </p:nvPr>
        </p:nvSpPr>
        <p:spPr>
          <a:xfrm>
            <a:off x="239293" y="596822"/>
            <a:ext cx="5273675" cy="1536190"/>
          </a:xfrm>
          <a:prstGeom prst="rect">
            <a:avLst/>
          </a:prstGeom>
        </p:spPr>
        <p:txBody>
          <a:bodyPr vert="horz" wrap="square" lIns="0" tIns="6985" rIns="0" bIns="0" rtlCol="0">
            <a:spAutoFit/>
          </a:bodyPr>
          <a:lstStyle/>
          <a:p>
            <a:pPr marL="171450" lvl="0" indent="-171450" rtl="0">
              <a:buFont typeface="Arial" panose="020B0604020202020204" pitchFamily="34" charset="0"/>
              <a:buChar char="•"/>
            </a:pPr>
            <a:r>
              <a:rPr lang="en-IN" dirty="0"/>
              <a:t>B. McMahan, E. Moore, D. Ramage, S. Hampson, and B. </a:t>
            </a:r>
            <a:r>
              <a:rPr lang="en-IN" dirty="0" err="1"/>
              <a:t>Agüera</a:t>
            </a:r>
            <a:r>
              <a:rPr lang="en-IN" dirty="0"/>
              <a:t> y </a:t>
            </a:r>
            <a:r>
              <a:rPr lang="en-IN" dirty="0" err="1"/>
              <a:t>Arcas</a:t>
            </a:r>
            <a:r>
              <a:rPr lang="en-IN" dirty="0"/>
              <a:t>, “Communication-efficient learning of deep networks from decentralized data,” in </a:t>
            </a:r>
            <a:r>
              <a:rPr lang="en-IN" i="1" dirty="0"/>
              <a:t>Proc. 20th Int. Conf. Artificial Intelligence and Statistics (AISTATS)</a:t>
            </a:r>
            <a:r>
              <a:rPr lang="en-IN" dirty="0"/>
              <a:t>, PMLR vol. 54, 2017, pp. </a:t>
            </a:r>
            <a:r>
              <a:rPr lang="en-IN"/>
              <a:t>1273–1282.</a:t>
            </a:r>
            <a:br>
              <a:rPr lang="en-IN"/>
            </a:br>
            <a:endParaRPr lang="en-IN" dirty="0"/>
          </a:p>
          <a:p>
            <a:pPr marL="171450" lvl="0" indent="-171450" rtl="0">
              <a:buFont typeface="Arial" panose="020B0604020202020204" pitchFamily="34" charset="0"/>
              <a:buChar char="•"/>
            </a:pPr>
            <a:r>
              <a:rPr lang="en-IN" dirty="0"/>
              <a:t>Y. Liu, J. J. Q. Yu, J. Kang, D. </a:t>
            </a:r>
            <a:r>
              <a:rPr lang="en-IN" dirty="0" err="1"/>
              <a:t>Niyato</a:t>
            </a:r>
            <a:r>
              <a:rPr lang="en-IN" dirty="0"/>
              <a:t>, and S. Zhang, “Privacy-preserving traffic flow prediction: A federated learning approach,” </a:t>
            </a:r>
            <a:r>
              <a:rPr lang="en-IN" i="1" dirty="0"/>
              <a:t>IEEE Internet of Things Journal</a:t>
            </a:r>
            <a:r>
              <a:rPr lang="en-IN" dirty="0"/>
              <a:t>, vol. 7, no. 8, pp. 7751–7763, 2020.</a:t>
            </a:r>
          </a:p>
          <a:p>
            <a:pPr marL="310515" marR="5080" indent="-298450">
              <a:lnSpc>
                <a:spcPct val="102699"/>
              </a:lnSpc>
              <a:spcBef>
                <a:spcPts val="55"/>
              </a:spcBef>
              <a:buClr>
                <a:srgbClr val="0000DC"/>
              </a:buClr>
              <a:buFont typeface="Century Gothic"/>
              <a:buAutoNum type="arabicPlain"/>
              <a:tabLst>
                <a:tab pos="310515" algn="l"/>
              </a:tabLst>
            </a:pPr>
            <a:endParaRPr spc="-25" dirty="0"/>
          </a:p>
        </p:txBody>
      </p:sp>
      <p:sp>
        <p:nvSpPr>
          <p:cNvPr id="5" name="object 5"/>
          <p:cNvSpPr txBox="1"/>
          <p:nvPr/>
        </p:nvSpPr>
        <p:spPr>
          <a:xfrm>
            <a:off x="239293" y="3050083"/>
            <a:ext cx="1608455" cy="166712"/>
          </a:xfrm>
          <a:prstGeom prst="rect">
            <a:avLst/>
          </a:prstGeom>
        </p:spPr>
        <p:txBody>
          <a:bodyPr vert="horz" wrap="square" lIns="0" tIns="0" rIns="0" bIns="0" rtlCol="0">
            <a:spAutoFit/>
          </a:bodyPr>
          <a:lstStyle/>
          <a:p>
            <a:pPr marL="12700">
              <a:lnSpc>
                <a:spcPts val="1315"/>
              </a:lnSpc>
            </a:pPr>
            <a:r>
              <a:rPr lang="en-IN" sz="2100" i="1" spc="-202" baseline="-7936" dirty="0">
                <a:solidFill>
                  <a:srgbClr val="0000DC"/>
                </a:solidFill>
                <a:latin typeface="Arial Narrow"/>
                <a:cs typeface="Arial Narrow"/>
              </a:rPr>
              <a:t> </a:t>
            </a:r>
            <a:r>
              <a:rPr lang="en-IN" sz="600" b="1" dirty="0">
                <a:solidFill>
                  <a:srgbClr val="0000DC"/>
                </a:solidFill>
                <a:latin typeface="Century Gothic"/>
                <a:cs typeface="Century Gothic"/>
              </a:rPr>
              <a:t>A3-</a:t>
            </a:r>
            <a:r>
              <a:rPr lang="en-IN" sz="600" b="1" spc="-10" dirty="0">
                <a:solidFill>
                  <a:srgbClr val="0000DC"/>
                </a:solidFill>
                <a:latin typeface="Century Gothic"/>
                <a:cs typeface="Century Gothic"/>
              </a:rPr>
              <a:t>PS003-</a:t>
            </a:r>
            <a:r>
              <a:rPr lang="en-IN" sz="600" b="1" dirty="0">
                <a:solidFill>
                  <a:srgbClr val="0000DC"/>
                </a:solidFill>
                <a:latin typeface="Century Gothic"/>
                <a:cs typeface="Century Gothic"/>
              </a:rPr>
              <a:t>TC196</a:t>
            </a:r>
            <a:endParaRPr lang="en-IN" sz="600" dirty="0">
              <a:latin typeface="Century Gothic"/>
              <a:cs typeface="Century Gothic"/>
            </a:endParaRPr>
          </a:p>
        </p:txBody>
      </p:sp>
      <p:sp>
        <p:nvSpPr>
          <p:cNvPr id="6" name="object 6"/>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10</a:t>
            </a:fld>
            <a:r>
              <a:rPr spc="5" dirty="0"/>
              <a:t> </a:t>
            </a:r>
            <a:r>
              <a:rPr dirty="0"/>
              <a:t>/</a:t>
            </a:r>
            <a:r>
              <a:rPr spc="10" dirty="0"/>
              <a:t> </a:t>
            </a:r>
            <a:r>
              <a:rPr spc="-25" dirty="0"/>
              <a:t>11</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994535" y="1088871"/>
            <a:ext cx="1771014" cy="191770"/>
          </a:xfrm>
          <a:prstGeom prst="rect">
            <a:avLst/>
          </a:prstGeom>
        </p:spPr>
        <p:txBody>
          <a:bodyPr vert="horz" wrap="square" lIns="0" tIns="11430" rIns="0" bIns="0" rtlCol="0">
            <a:spAutoFit/>
          </a:bodyPr>
          <a:lstStyle/>
          <a:p>
            <a:pPr marL="12700">
              <a:lnSpc>
                <a:spcPct val="100000"/>
              </a:lnSpc>
              <a:spcBef>
                <a:spcPts val="90"/>
              </a:spcBef>
            </a:pPr>
            <a:r>
              <a:rPr sz="1100" spc="-60" dirty="0">
                <a:latin typeface="Century Gothic"/>
                <a:cs typeface="Century Gothic"/>
              </a:rPr>
              <a:t>Thank</a:t>
            </a:r>
            <a:r>
              <a:rPr sz="1100" dirty="0">
                <a:latin typeface="Century Gothic"/>
                <a:cs typeface="Century Gothic"/>
              </a:rPr>
              <a:t> </a:t>
            </a:r>
            <a:r>
              <a:rPr sz="1100" spc="-130" dirty="0">
                <a:latin typeface="Century Gothic"/>
                <a:cs typeface="Century Gothic"/>
              </a:rPr>
              <a:t>You</a:t>
            </a:r>
            <a:r>
              <a:rPr sz="1100" dirty="0">
                <a:latin typeface="Century Gothic"/>
                <a:cs typeface="Century Gothic"/>
              </a:rPr>
              <a:t> </a:t>
            </a:r>
            <a:r>
              <a:rPr sz="1100" spc="-35" dirty="0">
                <a:latin typeface="Century Gothic"/>
                <a:cs typeface="Century Gothic"/>
              </a:rPr>
              <a:t>for</a:t>
            </a:r>
            <a:r>
              <a:rPr sz="1100" spc="5" dirty="0">
                <a:latin typeface="Century Gothic"/>
                <a:cs typeface="Century Gothic"/>
              </a:rPr>
              <a:t> </a:t>
            </a:r>
            <a:r>
              <a:rPr sz="1100" spc="-85" dirty="0">
                <a:latin typeface="Century Gothic"/>
                <a:cs typeface="Century Gothic"/>
              </a:rPr>
              <a:t>Your</a:t>
            </a:r>
            <a:r>
              <a:rPr sz="1100" dirty="0">
                <a:latin typeface="Century Gothic"/>
                <a:cs typeface="Century Gothic"/>
              </a:rPr>
              <a:t> </a:t>
            </a:r>
            <a:r>
              <a:rPr sz="1100" spc="-55" dirty="0">
                <a:latin typeface="Century Gothic"/>
                <a:cs typeface="Century Gothic"/>
              </a:rPr>
              <a:t>Attention!</a:t>
            </a:r>
            <a:endParaRPr sz="1100">
              <a:latin typeface="Century Gothic"/>
              <a:cs typeface="Century Gothic"/>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DC"/>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1110</TotalTime>
  <Words>1187</Words>
  <Application>Microsoft Office PowerPoint</Application>
  <PresentationFormat>Custom</PresentationFormat>
  <Paragraphs>83</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Arial Narrow</vt:lpstr>
      <vt:lpstr>Century Gothic</vt:lpstr>
      <vt:lpstr>Times New Roman</vt:lpstr>
      <vt:lpstr>Office Theme</vt:lpstr>
      <vt:lpstr>A3-PS003-TC196 Federated Traffic-Flow Predication with  Communication-Cost Evaluation</vt:lpstr>
      <vt:lpstr>PowerPoint Presentation</vt:lpstr>
      <vt:lpstr>PowerPoint Presentation</vt:lpstr>
      <vt:lpstr>PowerPoint Presentation</vt:lpstr>
      <vt:lpstr>PowerPoint Presentation</vt:lpstr>
      <vt:lpstr>PowerPoint Presentation</vt:lpstr>
      <vt:lpstr>Solution Architecture &amp; Design </vt:lpstr>
      <vt:lpstr>Data Flow Diagram</vt:lpstr>
      <vt:lpstr>PowerPoint Presentation</vt:lpstr>
      <vt:lpstr>Bibliography 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A3-PS001-TC001 - Android Ransomware-like Activity Early Warning in a Controlled Lab</dc:title>
  <dc:subject>Presentation Subject</dc:subject>
  <dc:creator>John Doe, personal-id@some.mail.com</dc:creator>
  <cp:keywords>the, presentation, keywords</cp:keywords>
  <cp:lastModifiedBy>Anchuri Abhishek</cp:lastModifiedBy>
  <cp:revision>1</cp:revision>
  <dcterms:created xsi:type="dcterms:W3CDTF">2026-10-13T09:08:24Z</dcterms:created>
  <dcterms:modified xsi:type="dcterms:W3CDTF">2026-10-14T12:39:31Z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v10.0.20390.1</vt:lpwstr>
  </property>
  <property fmtid="{D5CDD505-2E9C-101B-9397-08002B2CF9AE}" pid="3" name="Created">
    <vt:filetime>2026-10-05T00:00:00Z</vt:filetime>
  </property>
  <property fmtid="{D5CDD505-2E9C-101B-9397-08002B2CF9AE}" pid="4" name="Creator">
    <vt:lpwstr>LaTeX with Beamer class</vt:lpwstr>
  </property>
  <property fmtid="{D5CDD505-2E9C-101B-9397-08002B2CF9AE}" pid="5" name="LastSaved">
    <vt:filetime>2026-10-13T00:00:00Z</vt:filetime>
  </property>
  <property fmtid="{D5CDD505-2E9C-101B-9397-08002B2CF9AE}" pid="6" name="PTEX.Fullbanner">
    <vt:lpwstr>This is pdfTeX, Version 3.141592653-2.6-1.40.29 (TeX Live 2026) kpathsea version 6.4.2</vt:lpwstr>
  </property>
  <property fmtid="{D5CDD505-2E9C-101B-9397-08002B2CF9AE}" pid="7" name="Producer">
    <vt:lpwstr>pdfTeX-1.40.29</vt:lpwstr>
  </property>
</Properties>
</file>